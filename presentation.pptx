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8"/>
  </p:notesMasterIdLst>
  <p:handoutMasterIdLst>
    <p:handoutMasterId r:id="rId19"/>
  </p:handoutMasterIdLst>
  <p:sldIdLst>
    <p:sldId id="315" r:id="rId5"/>
    <p:sldId id="266" r:id="rId6"/>
    <p:sldId id="314" r:id="rId7"/>
    <p:sldId id="271" r:id="rId8"/>
    <p:sldId id="309" r:id="rId9"/>
    <p:sldId id="256" r:id="rId10"/>
    <p:sldId id="312" r:id="rId11"/>
    <p:sldId id="305" r:id="rId12"/>
    <p:sldId id="310" r:id="rId13"/>
    <p:sldId id="316" r:id="rId14"/>
    <p:sldId id="313" r:id="rId15"/>
    <p:sldId id="300" r:id="rId16"/>
    <p:sldId id="29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67" d="100"/>
          <a:sy n="67" d="100"/>
        </p:scale>
        <p:origin x="100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4/24/2025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4/24/2025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9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74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555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03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181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12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3660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4/24/2025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825689"/>
            <a:ext cx="7685728" cy="37415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30" y="825687"/>
            <a:ext cx="5957384" cy="3741551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40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36013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D60E3C33-714C-4528-93A6-4470C3E89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0836" y="-2"/>
            <a:ext cx="4481164" cy="6858002"/>
          </a:xfrm>
          <a:custGeom>
            <a:avLst/>
            <a:gdLst>
              <a:gd name="connsiteX0" fmla="*/ 0 w 5332064"/>
              <a:gd name="connsiteY0" fmla="*/ 0 h 6858002"/>
              <a:gd name="connsiteX1" fmla="*/ 5332064 w 5332064"/>
              <a:gd name="connsiteY1" fmla="*/ 0 h 6858002"/>
              <a:gd name="connsiteX2" fmla="*/ 5332064 w 5332064"/>
              <a:gd name="connsiteY2" fmla="*/ 6858002 h 6858002"/>
              <a:gd name="connsiteX3" fmla="*/ 0 w 5332064"/>
              <a:gd name="connsiteY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064" h="6858002">
                <a:moveTo>
                  <a:pt x="0" y="0"/>
                </a:moveTo>
                <a:lnTo>
                  <a:pt x="5332064" y="0"/>
                </a:lnTo>
                <a:lnTo>
                  <a:pt x="5332064" y="6858002"/>
                </a:lnTo>
                <a:lnTo>
                  <a:pt x="0" y="6858002"/>
                </a:ln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2498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430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8" y="1034477"/>
            <a:ext cx="9380431" cy="2614551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4ADB5-E70F-B672-CBEB-D8194AEA79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86177" y="3649028"/>
            <a:ext cx="9380431" cy="2164715"/>
          </a:xfrm>
        </p:spPr>
        <p:txBody>
          <a:bodyPr anchor="t"/>
          <a:lstStyle>
            <a:lvl1pPr marL="0" indent="0">
              <a:lnSpc>
                <a:spcPct val="125000"/>
              </a:lnSpc>
              <a:buNone/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>
              <a:defRPr lang="en-US" sz="2400" b="0" kern="1200" spc="15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35738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78233C-CCEC-FC64-A709-616569B37D2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7FEFA15-354D-6389-9102-922A664A73A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966630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7804587-2E59-4D83-B86E-83ADAE4FDC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3064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6164776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016188" cy="10565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8518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511" y="1393926"/>
            <a:ext cx="7042570" cy="1626225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F27B53-079D-232F-8AA5-ED461B34E8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06741" y="3153103"/>
            <a:ext cx="7042335" cy="2648312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41913" y="6144405"/>
            <a:ext cx="8150087" cy="71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6412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F4FDF97-2780-775F-9416-96F7A9066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72202" y="6309360"/>
            <a:ext cx="4280135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A03787D1-4AB7-2166-D4DB-A3878CBB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06511" y="6309360"/>
            <a:ext cx="1513289" cy="457200"/>
          </a:xfrm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4F8C5CD2-BF99-0846-2E4A-179E6C4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800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875EEC-3E6C-5B97-FFE8-0D1ECAAAE98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35372" y="462243"/>
            <a:ext cx="3098425" cy="3866324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1178" indent="0">
              <a:lnSpc>
                <a:spcPct val="125000"/>
              </a:lnSpc>
              <a:spcAft>
                <a:spcPts val="600"/>
              </a:spcAft>
              <a:buNone/>
              <a:defRPr sz="1800"/>
            </a:lvl2pPr>
            <a:lvl3pPr marL="566928" indent="0">
              <a:lnSpc>
                <a:spcPct val="125000"/>
              </a:lnSpc>
              <a:spcAft>
                <a:spcPts val="600"/>
              </a:spcAft>
              <a:buNone/>
              <a:defRPr sz="1800"/>
            </a:lvl3pPr>
            <a:lvl4pPr marL="850392" indent="0">
              <a:lnSpc>
                <a:spcPct val="125000"/>
              </a:lnSpc>
              <a:spcAft>
                <a:spcPts val="600"/>
              </a:spcAft>
              <a:buNone/>
              <a:defRPr sz="1800"/>
            </a:lvl4pPr>
            <a:lvl5pPr marL="1133856" indent="0">
              <a:lnSpc>
                <a:spcPct val="125000"/>
              </a:lnSpc>
              <a:spcAft>
                <a:spcPts val="600"/>
              </a:spcAft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7">
            <a:extLst>
              <a:ext uri="{FF2B5EF4-FFF2-40B4-BE49-F238E27FC236}">
                <a16:creationId xmlns:a16="http://schemas.microsoft.com/office/drawing/2014/main" id="{0C5070DA-50C2-065D-00B0-3B12070D77E7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075238" y="461735"/>
            <a:ext cx="6473842" cy="38671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2F8DD265-980F-4708-EDDF-3130F434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8315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2A19A957-1FB5-43F8-B325-BBD9FEF23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5410A-92A6-4C0B-9D89-186B7DD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351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26073-23A2-4B91-A128-79AA1BE93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351619"/>
            <a:ext cx="12192000" cy="4749487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D5DFA-0CEA-43F0-98EE-6C9F741F7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6107836"/>
            <a:ext cx="4651248" cy="750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E19795B-1103-80EF-6098-1E8371D07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935" y="91439"/>
            <a:ext cx="10900146" cy="1168739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4F766-C576-F298-E93A-CD0D832F8E4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8935" y="1646102"/>
            <a:ext cx="3819652" cy="4160520"/>
          </a:xfrm>
        </p:spPr>
        <p:txBody>
          <a:bodyPr anchor="t">
            <a:normAutofit/>
          </a:bodyPr>
          <a:lstStyle>
            <a:lvl1pPr>
              <a:lnSpc>
                <a:spcPct val="125000"/>
              </a:lnSpc>
              <a:spcAft>
                <a:spcPts val="600"/>
              </a:spcAft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2712D-F957-4B22-8B50-BE10410FF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01107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ooter Placeholder 29">
            <a:extLst>
              <a:ext uri="{FF2B5EF4-FFF2-40B4-BE49-F238E27FC236}">
                <a16:creationId xmlns:a16="http://schemas.microsoft.com/office/drawing/2014/main" id="{26FD74F8-42BB-4CB4-ABF1-5F149743B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2917" y="6309360"/>
            <a:ext cx="3423986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Date Placeholder 28">
            <a:extLst>
              <a:ext uri="{FF2B5EF4-FFF2-40B4-BE49-F238E27FC236}">
                <a16:creationId xmlns:a16="http://schemas.microsoft.com/office/drawing/2014/main" id="{5B031752-6400-4BFB-979F-E2EE795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73620" y="6309360"/>
            <a:ext cx="3411973" cy="4572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2" name="Slide Number Placeholder 30">
            <a:extLst>
              <a:ext uri="{FF2B5EF4-FFF2-40B4-BE49-F238E27FC236}">
                <a16:creationId xmlns:a16="http://schemas.microsoft.com/office/drawing/2014/main" id="{6A5CAEAF-7DEC-4B20-8B1E-301A9D0E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696A3-EA34-4924-9037-E330B1CB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3798" y="6117631"/>
            <a:ext cx="64008" cy="7403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94D0A7-4358-49BF-96EE-8DEB6F4DCF5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679661" y="1646102"/>
            <a:ext cx="6863403" cy="4160520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317369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74D0E84D-2B51-9F8D-82CE-C086143DC605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630363" y="2757951"/>
            <a:ext cx="9918700" cy="3387579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DB9557B-D9D3-4FA9-2D64-D2F91957D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BC3F5B3-7690-C0DA-4084-5EFE50E8C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99E56FFE-09D7-3078-C9E8-DFE8CF68A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24340333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709" r:id="rId23"/>
    <p:sldLayoutId id="2147483682" r:id="rId24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Zillow Dataset:</a:t>
            </a:r>
            <a:br>
              <a:rPr lang="en-US" dirty="0"/>
            </a:br>
            <a:r>
              <a:rPr lang="en-US" dirty="0"/>
              <a:t>Assessed Tax Value Modeling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2D7B1-7D0F-514E-3E61-C9489FB77A7D}"/>
              </a:ext>
            </a:extLst>
          </p:cNvPr>
          <p:cNvSpPr txBox="1"/>
          <p:nvPr/>
        </p:nvSpPr>
        <p:spPr>
          <a:xfrm>
            <a:off x="1481328" y="4617720"/>
            <a:ext cx="5777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OMCDS MOD 3</a:t>
            </a:r>
          </a:p>
          <a:p>
            <a:r>
              <a:rPr lang="en-US" dirty="0"/>
              <a:t>Peter Shmorhun, Nowrin Mustary, and Matt Gurgiolo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41" name="Picture Placeholder 40" descr="A large room with glass walls&#10;">
            <a:extLst>
              <a:ext uri="{FF2B5EF4-FFF2-40B4-BE49-F238E27FC236}">
                <a16:creationId xmlns:a16="http://schemas.microsoft.com/office/drawing/2014/main" id="{9FB4A3D7-302B-4FAB-B9BD-5F75A796AC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80" r="7980"/>
          <a:stretch/>
        </p:blipFill>
        <p:spPr/>
      </p:pic>
    </p:spTree>
    <p:extLst>
      <p:ext uri="{BB962C8B-B14F-4D97-AF65-F5344CB8AC3E}">
        <p14:creationId xmlns:p14="http://schemas.microsoft.com/office/powerpoint/2010/main" val="2916022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5" name="Picture Placeholder 4" descr="People in the middle of a circular room 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18" r="7618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b">
            <a:normAutofit/>
          </a:bodyPr>
          <a:lstStyle/>
          <a:p>
            <a:r>
              <a:rPr lang="en-US" dirty="0"/>
              <a:t>Selecting visual aids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94F61A-46C1-B831-7EC4-687DF1C75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11154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/>
          </a:bodyPr>
          <a:lstStyle/>
          <a:p>
            <a:r>
              <a:rPr lang="en-US" dirty="0"/>
              <a:t>Voice modulation is a powerful tool in public speaking. It involves varying pitch, tone, and volume to convey emotion, emphasize points, and maintain interest: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r>
              <a:rPr lang="en-US" dirty="0"/>
              <a:t>Effective body language enhances your message, making it more impactful </a:t>
            </a:r>
            <a:r>
              <a:rPr lang="en-US"/>
              <a:t>and memorable:</a:t>
            </a:r>
            <a:endParaRPr lang="en-US" dirty="0"/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1230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2769-08DE-E62F-163A-27A5442A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3192-D337-8C2E-FAAC-9B46B5DFBD21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</p:spTree>
    <p:extLst>
      <p:ext uri="{BB962C8B-B14F-4D97-AF65-F5344CB8AC3E}">
        <p14:creationId xmlns:p14="http://schemas.microsoft.com/office/powerpoint/2010/main" val="4065057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53CE196-36B9-5361-5120-20DF8B3B5581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2347872384"/>
              </p:ext>
            </p:extLst>
          </p:nvPr>
        </p:nvGraphicFramePr>
        <p:xfrm>
          <a:off x="5075238" y="461963"/>
          <a:ext cx="6473825" cy="386715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038538">
                  <a:extLst>
                    <a:ext uri="{9D8B030D-6E8A-4147-A177-3AD203B41FA5}">
                      <a16:colId xmlns:a16="http://schemas.microsoft.com/office/drawing/2014/main" val="1123561819"/>
                    </a:ext>
                  </a:extLst>
                </a:gridCol>
                <a:gridCol w="2097154">
                  <a:extLst>
                    <a:ext uri="{9D8B030D-6E8A-4147-A177-3AD203B41FA5}">
                      <a16:colId xmlns:a16="http://schemas.microsoft.com/office/drawing/2014/main" val="1296588374"/>
                    </a:ext>
                  </a:extLst>
                </a:gridCol>
                <a:gridCol w="1178835">
                  <a:extLst>
                    <a:ext uri="{9D8B030D-6E8A-4147-A177-3AD203B41FA5}">
                      <a16:colId xmlns:a16="http://schemas.microsoft.com/office/drawing/2014/main" val="1285016582"/>
                    </a:ext>
                  </a:extLst>
                </a:gridCol>
                <a:gridCol w="1159296">
                  <a:extLst>
                    <a:ext uri="{9D8B030D-6E8A-4147-A177-3AD203B41FA5}">
                      <a16:colId xmlns:a16="http://schemas.microsoft.com/office/drawing/2014/main" val="4218447726"/>
                    </a:ext>
                  </a:extLst>
                </a:gridCol>
              </a:tblGrid>
              <a:tr h="477078">
                <a:tc>
                  <a:txBody>
                    <a:bodyPr/>
                    <a:lstStyle/>
                    <a:p>
                      <a:r>
                        <a:rPr lang="en-US" dirty="0"/>
                        <a:t>Metric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342107652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Audience attendance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attendees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7143556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Engagement duration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328625713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Q&amp;A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questions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048660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Positive feedback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515855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01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  <a:p>
            <a:r>
              <a:rPr lang="en-US" dirty="0"/>
              <a:t>Consistent rehearsal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78F1DC-7EF8-5514-E97B-D47663F284D3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47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FE67981-079D-4463-B997-67E6CA03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9" name="Table 9">
            <a:extLst>
              <a:ext uri="{FF2B5EF4-FFF2-40B4-BE49-F238E27FC236}">
                <a16:creationId xmlns:a16="http://schemas.microsoft.com/office/drawing/2014/main" id="{AEFEE5B3-A51E-DC59-9595-7A6911D82E6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313099663"/>
              </p:ext>
            </p:extLst>
          </p:nvPr>
        </p:nvGraphicFramePr>
        <p:xfrm>
          <a:off x="1630363" y="2757488"/>
          <a:ext cx="9918700" cy="3387725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93037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89077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24636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710257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Impact factor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Achieved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2231563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92331104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04673958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166282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023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55816F-F516-477A-8EF2-D8CA20267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{14B4E36B-4460-4E9B-ACE4-76CE89677196}tf56000440_win32</Template>
  <TotalTime>70</TotalTime>
  <Words>435</Words>
  <Application>Microsoft Office PowerPoint</Application>
  <PresentationFormat>Widescreen</PresentationFormat>
  <Paragraphs>122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Meiryo</vt:lpstr>
      <vt:lpstr>Calibri</vt:lpstr>
      <vt:lpstr>Corbel</vt:lpstr>
      <vt:lpstr>Wingdings</vt:lpstr>
      <vt:lpstr>ShojiVTI</vt:lpstr>
      <vt:lpstr>Zillow Dataset: Assessed Tax Value Modeling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Gurgiolo</dc:creator>
  <cp:lastModifiedBy>Matthew Gurgiolo</cp:lastModifiedBy>
  <cp:revision>1</cp:revision>
  <dcterms:created xsi:type="dcterms:W3CDTF">2025-04-24T17:18:24Z</dcterms:created>
  <dcterms:modified xsi:type="dcterms:W3CDTF">2025-04-24T18:29:05Z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