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4"/>
  </p:sldMasterIdLst>
  <p:notesMasterIdLst>
    <p:notesMasterId r:id="rId17"/>
  </p:notesMasterIdLst>
  <p:handoutMasterIdLst>
    <p:handoutMasterId r:id="rId18"/>
  </p:handoutMasterIdLst>
  <p:sldIdLst>
    <p:sldId id="315" r:id="rId5"/>
    <p:sldId id="266" r:id="rId6"/>
    <p:sldId id="312" r:id="rId7"/>
    <p:sldId id="309" r:id="rId8"/>
    <p:sldId id="314" r:id="rId9"/>
    <p:sldId id="305" r:id="rId10"/>
    <p:sldId id="271" r:id="rId11"/>
    <p:sldId id="310" r:id="rId12"/>
    <p:sldId id="316" r:id="rId13"/>
    <p:sldId id="313" r:id="rId14"/>
    <p:sldId id="300" r:id="rId15"/>
    <p:sldId id="29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9200206-63A0-4E29-BBD4-435698AC31B1}">
          <p14:sldIdLst>
            <p14:sldId id="315"/>
            <p14:sldId id="266"/>
            <p14:sldId id="312"/>
            <p14:sldId id="309"/>
            <p14:sldId id="314"/>
            <p14:sldId id="305"/>
            <p14:sldId id="271"/>
            <p14:sldId id="310"/>
            <p14:sldId id="316"/>
            <p14:sldId id="313"/>
            <p14:sldId id="300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  <p188:author id="{5AA1BD55-57CD-466E-0725-B6CBA11E0D12}" name="Lauren Weldy (ALLEGIS GROUP SERVICES)" initials="LW" userId="S::v-lweldy@microsoft.com::07a2285c-a352-4b96-8658-ecc34365c15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D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88" autoAdjust="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149"/>
    </p:cViewPr>
  </p:sorterViewPr>
  <p:notesViewPr>
    <p:cSldViewPr snapToGrid="0">
      <p:cViewPr>
        <p:scale>
          <a:sx n="1" d="2"/>
          <a:sy n="1" d="2"/>
        </p:scale>
        <p:origin x="2640" y="28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89D207-BE08-4B33-B5B0-5A5A94C951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E58DB9-49DC-495B-A68F-33D105C906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7A1AC4-3AE8-4F87-AAED-904EC6054702}" type="datetimeFigureOut">
              <a:rPr lang="en-US" smtClean="0"/>
              <a:t>4/26/2025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66337E-DAD5-442C-9B8F-E10EB7D972C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E3BDF2-02BD-4181-AC28-FD56172CC6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F8A362-CAFC-4987-9A50-47570528395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23749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556653-6123-4FE4-861F-5F9583BF59B0}" type="datetimeFigureOut">
              <a:rPr lang="en-US" smtClean="0"/>
              <a:t>4/26/2025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EB602-95FC-483A-B12D-216A7AD7EA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843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08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451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25550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268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899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327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2838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16030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5181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912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3660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697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69555-EE48-4B19-812B-4E1068DBF976}"/>
              </a:ext>
            </a:extLst>
          </p:cNvPr>
          <p:cNvSpPr/>
          <p:nvPr/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</a:extLst>
          </p:cNvPr>
          <p:cNvSpPr/>
          <p:nvPr/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5388" y="863068"/>
            <a:ext cx="6007691" cy="4985916"/>
          </a:xfrm>
        </p:spPr>
        <p:txBody>
          <a:bodyPr anchor="ctr">
            <a:noAutofit/>
          </a:bodyPr>
          <a:lstStyle>
            <a:lvl1pPr algn="l">
              <a:lnSpc>
                <a:spcPct val="125000"/>
              </a:lnSpc>
              <a:defRPr sz="6000" b="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97352" y="863068"/>
            <a:ext cx="3351729" cy="5120069"/>
          </a:xfrm>
        </p:spPr>
        <p:txBody>
          <a:bodyPr anchor="ctr">
            <a:normAutofit/>
          </a:bodyPr>
          <a:lstStyle>
            <a:lvl1pPr marL="0" indent="0" algn="l">
              <a:lnSpc>
                <a:spcPct val="150000"/>
              </a:lnSpc>
              <a:buNone/>
              <a:defRPr sz="2400" b="0" cap="none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72EEBA-3A5D-41CE-8465-A45A0F65674E}"/>
              </a:ext>
            </a:extLst>
          </p:cNvPr>
          <p:cNvSpPr/>
          <p:nvPr/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9F4CF2F-CDFA-4A37-837C-819D5238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97353" y="6309360"/>
            <a:ext cx="2151134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FECE62A-61A4-407D-8F0B-D459CD977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5388" y="6309360"/>
            <a:ext cx="6007691" cy="457200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9FE60A9-FE2A-451F-9244-60FCE7FE9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6206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84944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D12B6-57DE-4B63-A723-500B050FB7DD}"/>
              </a:ext>
            </a:extLst>
          </p:cNvPr>
          <p:cNvSpPr/>
          <p:nvPr/>
        </p:nvSpPr>
        <p:spPr>
          <a:xfrm>
            <a:off x="0" y="4215384"/>
            <a:ext cx="12192000" cy="2642616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316" y="1406284"/>
            <a:ext cx="10593694" cy="2597841"/>
          </a:xfrm>
        </p:spPr>
        <p:txBody>
          <a:bodyPr anchor="b">
            <a:normAutofit/>
          </a:bodyPr>
          <a:lstStyle>
            <a:lvl1pPr algn="ctr">
              <a:lnSpc>
                <a:spcPct val="125000"/>
              </a:lnSpc>
              <a:defRPr sz="4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18312" y="4527856"/>
            <a:ext cx="6559018" cy="1570245"/>
          </a:xfrm>
        </p:spPr>
        <p:txBody>
          <a:bodyPr anchor="t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4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1E2E75-4758-4930-8024-39287C962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8B9949-402C-42C2-9A94-16590FC0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9D83F6-DAF4-4876-AA41-F246EC97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13A19-DDA2-44F6-9ED4-F87771C684B8}"/>
              </a:ext>
            </a:extLst>
          </p:cNvPr>
          <p:cNvSpPr/>
          <p:nvPr/>
        </p:nvSpPr>
        <p:spPr>
          <a:xfrm>
            <a:off x="0" y="4215384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5343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76670" y="705114"/>
            <a:ext cx="6172412" cy="2403846"/>
          </a:xfrm>
        </p:spPr>
        <p:txBody>
          <a:bodyPr anchor="b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70" y="3749040"/>
            <a:ext cx="6172411" cy="2346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6B9B5-A5D1-4099-B52B-78F39AB0AFCB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875859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67" y="658999"/>
            <a:ext cx="6166422" cy="457200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68" y="1116199"/>
            <a:ext cx="6166422" cy="2062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376668" y="3623098"/>
            <a:ext cx="6166421" cy="457200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6670" y="4102370"/>
            <a:ext cx="6166419" cy="206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26B370B-8381-431F-9492-0EA120511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A89085-2231-4A9C-B23C-B199A9DD26C5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1521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CD215-1C45-48A0-8534-39FFE8A7C95A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94837D5C-EE88-BE2B-5940-6A8E20CAE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6331A-AE6C-3009-DDD4-1671FF7E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D7D28B-DE67-0B99-CDEB-A037FFC56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B9F3E3-6134-5423-F75E-B36E71A652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1F677F-A1EC-4CDA-E80E-4B3695465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1E2C06-C49E-A5AA-07A3-D134EFA3D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BA39D8-E4F7-CD36-B80A-49D228C0F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F4721-4B2C-0638-8409-054F6738E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8947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CF41D3-C6B9-4E99-9321-87C4E216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BC6EB-07B1-46AF-AC33-E998BC6AA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3A0C1-6562-4819-9E88-4C1378FD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22554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CA29BA-0143-49FF-8608-DB1623D99537}"/>
              </a:ext>
            </a:extLst>
          </p:cNvPr>
          <p:cNvSpPr/>
          <p:nvPr/>
        </p:nvSpPr>
        <p:spPr>
          <a:xfrm>
            <a:off x="0" y="0"/>
            <a:ext cx="8248592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015" y="640079"/>
            <a:ext cx="2796066" cy="2551751"/>
          </a:xfrm>
        </p:spPr>
        <p:txBody>
          <a:bodyPr anchor="b">
            <a:normAutofit/>
          </a:bodyPr>
          <a:lstStyle>
            <a:lvl1pPr algn="l">
              <a:lnSpc>
                <a:spcPct val="135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8818" y="640078"/>
            <a:ext cx="6969693" cy="545592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753015" y="3223803"/>
            <a:ext cx="2796066" cy="2872197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10CF18-370D-4E80-AE4C-396FFDFCAE5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EBFE9C-5A22-4462-9C51-E00C03F5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53015" y="6309360"/>
            <a:ext cx="1734207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BBFF2E-AA66-4B76-9139-CB000B5A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8818" y="6309360"/>
            <a:ext cx="6993867" cy="457200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44F64C4-BF20-4F6B-B650-57C71C828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4089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4996" y="640079"/>
            <a:ext cx="2714085" cy="2695903"/>
          </a:xfrm>
        </p:spPr>
        <p:txBody>
          <a:bodyPr anchor="b">
            <a:noAutofit/>
          </a:bodyPr>
          <a:lstStyle>
            <a:lvl1pPr algn="l"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248592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834996" y="3429000"/>
            <a:ext cx="2714085" cy="2508026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949BC8-9ABF-49F6-851C-5DB0B86CA70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1EE21-E3FA-4D43-B224-C66495963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34997" y="6309360"/>
            <a:ext cx="1645920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D7F83-8993-4ED4-9F02-663CC085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678B7-E511-4CE1-BEE5-89E959B9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309360"/>
            <a:ext cx="4946592" cy="4572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63196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23653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21572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F5F5DFA-1BC3-4062-9356-6145C9F7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D461-AEC0-477F-A77A-6227F95A8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75813" y="0"/>
            <a:ext cx="4016188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A041D-DE47-45FA-AC78-CC7FD0257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1031500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14254-52EF-4F58-99B1-CDA7C3922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134" y="1095508"/>
            <a:ext cx="8203482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D3B3ABA-0408-41EA-935D-D4F4586AA8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7178" y="1361923"/>
            <a:ext cx="6623040" cy="1421898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EA5BF-04A6-2B17-0703-8419C4DB97F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87399" y="2916772"/>
            <a:ext cx="6622819" cy="2852639"/>
          </a:xfrm>
        </p:spPr>
        <p:txBody>
          <a:bodyPr anchor="t"/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2000" b="0"/>
            </a:lvl1pPr>
            <a:lvl2pPr>
              <a:lnSpc>
                <a:spcPct val="125000"/>
              </a:lnSpc>
              <a:spcAft>
                <a:spcPts val="600"/>
              </a:spcAft>
              <a:defRPr/>
            </a:lvl2pPr>
            <a:lvl3pPr>
              <a:lnSpc>
                <a:spcPct val="125000"/>
              </a:lnSpc>
              <a:spcAft>
                <a:spcPts val="600"/>
              </a:spcAft>
              <a:defRPr/>
            </a:lvl3pPr>
            <a:lvl4pPr>
              <a:lnSpc>
                <a:spcPct val="125000"/>
              </a:lnSpc>
              <a:spcAft>
                <a:spcPts val="600"/>
              </a:spcAft>
              <a:defRPr/>
            </a:lvl4pPr>
            <a:lvl5pPr>
              <a:lnSpc>
                <a:spcPct val="125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37301C-2B9B-4119-9002-BD6DB2AB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6144405"/>
            <a:ext cx="815008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2738D-D0ED-4899-A01C-42439B5B3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6532" y="6167615"/>
            <a:ext cx="398241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D261D-45B9-40C1-8341-8B8B796E8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6112401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ooter Placeholder 7">
            <a:extLst>
              <a:ext uri="{FF2B5EF4-FFF2-40B4-BE49-F238E27FC236}">
                <a16:creationId xmlns:a16="http://schemas.microsoft.com/office/drawing/2014/main" id="{182CF530-D736-4104-8678-850EEDF99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178" y="6309360"/>
            <a:ext cx="662304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9" name="Date Placeholder 5">
            <a:extLst>
              <a:ext uri="{FF2B5EF4-FFF2-40B4-BE49-F238E27FC236}">
                <a16:creationId xmlns:a16="http://schemas.microsoft.com/office/drawing/2014/main" id="{8DEDB7CE-711E-4E43-9450-4C7BECE2FC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79537" y="6309360"/>
            <a:ext cx="1885598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F5D9588C-9E6B-42F6-8B42-D18388626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3953F-BF80-48E0-8282-62907D6C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42523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79D74E-6357-D3E7-30C0-09B4B82BA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3482" y="1095507"/>
            <a:ext cx="3997653" cy="501689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5342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825689"/>
            <a:ext cx="7685728" cy="37415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30" y="825687"/>
            <a:ext cx="5957384" cy="3741551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40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360134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" name="Picture Placeholder 64">
            <a:extLst>
              <a:ext uri="{FF2B5EF4-FFF2-40B4-BE49-F238E27FC236}">
                <a16:creationId xmlns:a16="http://schemas.microsoft.com/office/drawing/2014/main" id="{D60E3C33-714C-4528-93A6-4470C3E89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10836" y="-2"/>
            <a:ext cx="4481164" cy="6858002"/>
          </a:xfrm>
          <a:custGeom>
            <a:avLst/>
            <a:gdLst>
              <a:gd name="connsiteX0" fmla="*/ 0 w 5332064"/>
              <a:gd name="connsiteY0" fmla="*/ 0 h 6858002"/>
              <a:gd name="connsiteX1" fmla="*/ 5332064 w 5332064"/>
              <a:gd name="connsiteY1" fmla="*/ 0 h 6858002"/>
              <a:gd name="connsiteX2" fmla="*/ 5332064 w 5332064"/>
              <a:gd name="connsiteY2" fmla="*/ 6858002 h 6858002"/>
              <a:gd name="connsiteX3" fmla="*/ 0 w 5332064"/>
              <a:gd name="connsiteY3" fmla="*/ 6858002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32064" h="6858002">
                <a:moveTo>
                  <a:pt x="0" y="0"/>
                </a:moveTo>
                <a:lnTo>
                  <a:pt x="5332064" y="0"/>
                </a:lnTo>
                <a:lnTo>
                  <a:pt x="5332064" y="6858002"/>
                </a:lnTo>
                <a:lnTo>
                  <a:pt x="0" y="6858002"/>
                </a:lnTo>
                <a:close/>
              </a:path>
            </a:pathLst>
          </a:custGeom>
        </p:spPr>
        <p:txBody>
          <a:bodyPr wrap="square" anchor="t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2498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430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7E77A60-3019-43AE-AA38-E130C04CF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FDBF0FB-88D2-4271-BFAF-D129CF8C2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0325" y="-4078"/>
            <a:ext cx="5787773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62B807B-6DFA-471C-B675-016416207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1031500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555D4C0-9882-489D-AD77-A9F38B378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1095508"/>
            <a:ext cx="5742273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8EC5ED-FCAE-682A-C050-58786819E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3392424"/>
          </a:xfrm>
        </p:spPr>
        <p:txBody>
          <a:bodyPr anchor="b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15C8BDC7-F09C-40A3-B14E-9A49781EE6C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749828" y="4816366"/>
            <a:ext cx="5125300" cy="1068929"/>
          </a:xfrm>
        </p:spPr>
        <p:txBody>
          <a:bodyPr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</a:lstStyle>
          <a:p>
            <a:r>
              <a:rPr lang="en-US" sz="2000" dirty="0">
                <a:solidFill>
                  <a:schemeClr val="tx2"/>
                </a:solidFill>
              </a:rPr>
              <a:t>Click to add subtitle</a:t>
            </a:r>
          </a:p>
        </p:txBody>
      </p:sp>
      <p:sp>
        <p:nvSpPr>
          <p:cNvPr id="40" name="Picture Placeholder 38">
            <a:extLst>
              <a:ext uri="{FF2B5EF4-FFF2-40B4-BE49-F238E27FC236}">
                <a16:creationId xmlns:a16="http://schemas.microsoft.com/office/drawing/2014/main" id="{AB2070F4-085F-4F8D-A1E8-A58E5F8F068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099" y="1095509"/>
            <a:ext cx="6391656" cy="501689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47A5DB4-1ED7-4630-89AF-F1802E44E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144405"/>
            <a:ext cx="644667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E5D4012-4107-490F-A369-EA7063242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6167615"/>
            <a:ext cx="5742273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95C79E2-9EA5-4713-B4AF-0E4572CFF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6112249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4C09E2-06F0-4230-8DAD-A0DBF01F8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79494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7427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ent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5C341663-7159-49AD-AAF3-4B3C490D81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F2EB12-394C-40E4-9186-CBD6635B5D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77552" y="0"/>
            <a:ext cx="751444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53F9468C-8821-4670-9C7C-78E7D7586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1023" y="167463"/>
            <a:ext cx="6408058" cy="158089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78806-0532-B92A-4326-73941B4232E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0" y="0"/>
            <a:ext cx="4613275" cy="685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83D2425-8E71-4C9D-8737-018CE44525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21655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EB24183-BE19-B810-4EF4-D9959CAD150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40405" y="1959427"/>
            <a:ext cx="6408665" cy="4161653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  <a:lvl2pPr>
              <a:lnSpc>
                <a:spcPct val="100000"/>
              </a:lnSpc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Aft>
                <a:spcPts val="600"/>
              </a:spcAft>
              <a:defRPr sz="1800"/>
            </a:lvl4pPr>
            <a:lvl5pPr>
              <a:lnSpc>
                <a:spcPct val="100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D15B6AB-EFBA-3087-EC3D-8DA945B7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40405" y="6309360"/>
            <a:ext cx="3982428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pPr algn="l"/>
            <a:r>
              <a:rPr lang="en-US" dirty="0"/>
              <a:t>Presentation Title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6A3371A6-1409-7906-744F-59D906DF6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8415" y="6309360"/>
            <a:ext cx="1215204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9/8/20XX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546652F-6212-09E9-1A75-28F7C8EEF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4187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and 2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30FB3D5A-25E2-453F-A78E-0A20BDCE8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796342-0E80-4F8E-9563-9F5EDFC0D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-2946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9B2F5D-C3BA-453E-8F4D-97074F48C7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724838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52D50E3-A27A-4AF6-928B-286E7BDB4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2" y="4873752"/>
            <a:ext cx="10013709" cy="103327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778233C-CCEC-FC64-A709-616569B37D2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542563" y="502269"/>
            <a:ext cx="4753581" cy="3718557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67FEFA15-354D-6389-9102-922A664A73A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966630" y="502269"/>
            <a:ext cx="4753581" cy="3718557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74FDF0-F4BE-433D-86EE-9E1832D43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4790620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DFCD07-1301-45ED-B326-449ECFADE7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D5DA270-E83F-4CC8-9DA6-27CA3AEC0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2" y="6309360"/>
            <a:ext cx="4946592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57804587-2E59-4D83-B86E-83ADAE4FDC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339F117-3072-4F0C-8D1D-E5DC918C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43064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DF88512-9E62-4695-B350-39488566A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CD596D-95F4-4C5C-A0E7-86D747FE70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553E9F-DCBF-4BEE-A261-5AA97361A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9B0EB0-AEBA-44ED-BC77-4188C74861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1" y="962423"/>
            <a:ext cx="10013710" cy="121615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52AD8E1-37CB-EB1E-9394-A293E1F2107F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542563" y="2590800"/>
            <a:ext cx="6441412" cy="3718557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B37B294-6F01-986D-E8E5-119AE9A8F2B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97362" y="2590800"/>
            <a:ext cx="3522849" cy="3718557"/>
          </a:xfrm>
        </p:spPr>
        <p:txBody>
          <a:bodyPr anchor="t">
            <a:normAutofit/>
          </a:bodyPr>
          <a:lstStyle>
            <a:lvl1pPr marL="285750" indent="-285750">
              <a:lnSpc>
                <a:spcPct val="125000"/>
              </a:lnSpc>
              <a:spcAft>
                <a:spcPts val="600"/>
              </a:spcAft>
              <a:buFont typeface="Wingdings" panose="05000000000000000000" pitchFamily="2" charset="2"/>
              <a:buChar char="§"/>
              <a:defRPr sz="1800" b="0"/>
            </a:lvl1pPr>
            <a:lvl2pPr>
              <a:lnSpc>
                <a:spcPct val="125000"/>
              </a:lnSpc>
              <a:spcAft>
                <a:spcPts val="600"/>
              </a:spcAft>
              <a:defRPr sz="1800"/>
            </a:lvl2pPr>
            <a:lvl3pPr>
              <a:lnSpc>
                <a:spcPct val="125000"/>
              </a:lnSpc>
              <a:spcAft>
                <a:spcPts val="600"/>
              </a:spcAft>
              <a:defRPr sz="1800"/>
            </a:lvl3pPr>
            <a:lvl4pPr>
              <a:lnSpc>
                <a:spcPct val="125000"/>
              </a:lnSpc>
              <a:spcAft>
                <a:spcPts val="600"/>
              </a:spcAft>
              <a:defRPr sz="1800"/>
            </a:lvl4pPr>
            <a:lvl5pPr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78DD10-67BC-4E87-A788-A45C6093F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769F5-486B-4B48-A543-2C70359DF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B47BB165-F380-48C4-B95B-C09C91893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1" y="6309360"/>
            <a:ext cx="5049579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0805E9B-6657-4167-BD79-CAC59C0D8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0EFA1AD-93FB-148E-CFC6-A6E5D99674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</p:spTree>
    <p:extLst>
      <p:ext uri="{BB962C8B-B14F-4D97-AF65-F5344CB8AC3E}">
        <p14:creationId xmlns:p14="http://schemas.microsoft.com/office/powerpoint/2010/main" val="16164776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F5F5DFA-1BC3-4062-9356-6145C9F7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D461-AEC0-477F-A77A-6227F95A8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4016188" cy="105654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A041D-DE47-45FA-AC78-CC7FD0257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1031500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14254-52EF-4F58-99B1-CDA7C3922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88518" y="1095508"/>
            <a:ext cx="8203482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D3B3ABA-0408-41EA-935D-D4F4586AA8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06511" y="1393926"/>
            <a:ext cx="7042570" cy="1626225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EF27B53-079D-232F-8AA5-ED461B34E8D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06741" y="3153103"/>
            <a:ext cx="7042335" cy="2648312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>
              <a:lnSpc>
                <a:spcPct val="125000"/>
              </a:lnSpc>
              <a:spcAft>
                <a:spcPts val="600"/>
              </a:spcAft>
              <a:defRPr sz="1800"/>
            </a:lvl2pPr>
            <a:lvl3pPr>
              <a:lnSpc>
                <a:spcPct val="125000"/>
              </a:lnSpc>
              <a:spcAft>
                <a:spcPts val="600"/>
              </a:spcAft>
              <a:defRPr sz="1800"/>
            </a:lvl3pPr>
            <a:lvl4pPr>
              <a:lnSpc>
                <a:spcPct val="125000"/>
              </a:lnSpc>
              <a:spcAft>
                <a:spcPts val="600"/>
              </a:spcAft>
              <a:defRPr sz="1800"/>
            </a:lvl4pPr>
            <a:lvl5pPr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37301C-2B9B-4119-9002-BD6DB2AB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041913" y="6144405"/>
            <a:ext cx="8150087" cy="7135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2738D-D0ED-4899-A01C-42439B5B3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167615"/>
            <a:ext cx="398241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D261D-45B9-40C1-8341-8B8B796E8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6112401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3953F-BF80-48E0-8282-62907D6C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86412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4F4FDF97-2780-775F-9416-96F7A9066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72202" y="6309360"/>
            <a:ext cx="4280135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A03787D1-4AB7-2166-D4DB-A3878CBB24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06511" y="6309360"/>
            <a:ext cx="1513289" cy="457200"/>
          </a:xfrm>
        </p:spPr>
        <p:txBody>
          <a:bodyPr/>
          <a:lstStyle>
            <a:lvl1pPr>
              <a:defRPr>
                <a:effectLst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9/8/20XX</a:t>
            </a:r>
            <a:endParaRPr lang="en-US" dirty="0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4F8C5CD2-BF99-0846-2E4A-179E6C459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8002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and 2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30FB3D5A-25E2-453F-A78E-0A20BDCE8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796342-0E80-4F8E-9563-9F5EDFC0D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-2946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9B2F5D-C3BA-453E-8F4D-97074F48C7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724838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52D50E3-A27A-4AF6-928B-286E7BDB4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2" y="4873752"/>
            <a:ext cx="10013709" cy="103327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74FDF0-F4BE-433D-86EE-9E1832D43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4790620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DFCD07-1301-45ED-B326-449ECFADE7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F875EEC-3E6C-5B97-FFE8-0D1ECAAAE98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535372" y="462243"/>
            <a:ext cx="3098425" cy="3866324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1178" indent="0">
              <a:lnSpc>
                <a:spcPct val="125000"/>
              </a:lnSpc>
              <a:spcAft>
                <a:spcPts val="600"/>
              </a:spcAft>
              <a:buNone/>
              <a:defRPr sz="1800"/>
            </a:lvl2pPr>
            <a:lvl3pPr marL="566928" indent="0">
              <a:lnSpc>
                <a:spcPct val="125000"/>
              </a:lnSpc>
              <a:spcAft>
                <a:spcPts val="600"/>
              </a:spcAft>
              <a:buNone/>
              <a:defRPr sz="1800"/>
            </a:lvl3pPr>
            <a:lvl4pPr marL="850392" indent="0">
              <a:lnSpc>
                <a:spcPct val="125000"/>
              </a:lnSpc>
              <a:spcAft>
                <a:spcPts val="600"/>
              </a:spcAft>
              <a:buNone/>
              <a:defRPr sz="1800"/>
            </a:lvl4pPr>
            <a:lvl5pPr marL="1133856" indent="0">
              <a:lnSpc>
                <a:spcPct val="125000"/>
              </a:lnSpc>
              <a:spcAft>
                <a:spcPts val="600"/>
              </a:spcAft>
              <a:buNone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able Placeholder 7">
            <a:extLst>
              <a:ext uri="{FF2B5EF4-FFF2-40B4-BE49-F238E27FC236}">
                <a16:creationId xmlns:a16="http://schemas.microsoft.com/office/drawing/2014/main" id="{0C5070DA-50C2-065D-00B0-3B12070D77E7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5075238" y="461735"/>
            <a:ext cx="6473842" cy="3867150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2F8DD265-980F-4708-EDDF-3130F434AC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D5DA270-E83F-4CC8-9DA6-27CA3AEC0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2" y="6309360"/>
            <a:ext cx="4946592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339F117-3072-4F0C-8D1D-E5DC918C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5831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2A19A957-1FB5-43F8-B325-BBD9FEF23E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A5410A-92A6-4C0B-9D89-186B7DDB2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3516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A26073-23A2-4B91-A128-79AA1BE93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351619"/>
            <a:ext cx="12192000" cy="4749487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4D5DFA-0CEA-43F0-98EE-6C9F741F7C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6107836"/>
            <a:ext cx="4651248" cy="7501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5E19795B-1103-80EF-6098-1E8371D07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935" y="91439"/>
            <a:ext cx="10900146" cy="1168739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D4F766-C576-F298-E93A-CD0D832F8E4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8935" y="1646102"/>
            <a:ext cx="3819652" cy="4160520"/>
          </a:xfrm>
        </p:spPr>
        <p:txBody>
          <a:bodyPr anchor="t">
            <a:normAutofit/>
          </a:bodyPr>
          <a:lstStyle>
            <a:lvl1pPr>
              <a:lnSpc>
                <a:spcPct val="125000"/>
              </a:lnSpc>
              <a:spcAft>
                <a:spcPts val="600"/>
              </a:spcAft>
              <a:defRPr sz="1800" b="0"/>
            </a:lvl1pPr>
            <a:lvl2pPr>
              <a:lnSpc>
                <a:spcPct val="125000"/>
              </a:lnSpc>
              <a:spcAft>
                <a:spcPts val="600"/>
              </a:spcAft>
              <a:defRPr sz="1800"/>
            </a:lvl2pPr>
            <a:lvl3pPr>
              <a:lnSpc>
                <a:spcPct val="125000"/>
              </a:lnSpc>
              <a:spcAft>
                <a:spcPts val="600"/>
              </a:spcAft>
              <a:defRPr sz="1800"/>
            </a:lvl3pPr>
            <a:lvl4pPr>
              <a:lnSpc>
                <a:spcPct val="125000"/>
              </a:lnSpc>
              <a:spcAft>
                <a:spcPts val="600"/>
              </a:spcAft>
              <a:defRPr sz="1800"/>
            </a:lvl4pPr>
            <a:lvl5pPr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52712D-F957-4B22-8B50-BE10410FF8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6101107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ooter Placeholder 29">
            <a:extLst>
              <a:ext uri="{FF2B5EF4-FFF2-40B4-BE49-F238E27FC236}">
                <a16:creationId xmlns:a16="http://schemas.microsoft.com/office/drawing/2014/main" id="{26FD74F8-42BB-4CB4-ABF1-5F149743B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2917" y="6309360"/>
            <a:ext cx="3423986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Date Placeholder 28">
            <a:extLst>
              <a:ext uri="{FF2B5EF4-FFF2-40B4-BE49-F238E27FC236}">
                <a16:creationId xmlns:a16="http://schemas.microsoft.com/office/drawing/2014/main" id="{5B031752-6400-4BFB-979F-E2EE795E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73620" y="6309360"/>
            <a:ext cx="3411973" cy="4572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2" name="Slide Number Placeholder 30">
            <a:extLst>
              <a:ext uri="{FF2B5EF4-FFF2-40B4-BE49-F238E27FC236}">
                <a16:creationId xmlns:a16="http://schemas.microsoft.com/office/drawing/2014/main" id="{6A5CAEAF-7DEC-4B20-8B1E-301A9D0E6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B696A3-EA34-4924-9037-E330B1CB8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3798" y="6117631"/>
            <a:ext cx="64008" cy="7403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E94D0A7-4358-49BF-96EE-8DEB6F4DCF56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679661" y="1646102"/>
            <a:ext cx="6863403" cy="4160520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317369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DF88512-9E62-4695-B350-39488566A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CD596D-95F4-4C5C-A0E7-86D747FE70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553E9F-DCBF-4BEE-A261-5AA97361A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9B0EB0-AEBA-44ED-BC77-4188C74861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1" y="962423"/>
            <a:ext cx="10013710" cy="121615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74D0E84D-2B51-9F8D-82CE-C086143DC605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630363" y="2757951"/>
            <a:ext cx="9918700" cy="3387579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78DD10-67BC-4E87-A788-A45C6093F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769F5-486B-4B48-A543-2C70359DF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0DB9557B-D9D3-4FA9-2D64-D2F91957D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2" y="6309360"/>
            <a:ext cx="4946592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3BC3F5B3-7690-C0DA-4084-5EFE50E8C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99E56FFE-09D7-3078-C9E8-DFE8CF68AA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</p:spTree>
    <p:extLst>
      <p:ext uri="{BB962C8B-B14F-4D97-AF65-F5344CB8AC3E}">
        <p14:creationId xmlns:p14="http://schemas.microsoft.com/office/powerpoint/2010/main" val="243403332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3DC2F0A-1748-49AE-AF72-D6BBB4F8FE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3DF7B1-E0C5-4E09-BB5C-F11EA14D7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66789"/>
            <a:ext cx="6833381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BC678EC-E47C-4AC2-A75A-7022CECD00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34622" y="848455"/>
            <a:ext cx="5102365" cy="2601914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74E69A-5ABD-42DF-A2B0-997A62625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3063" y="920164"/>
            <a:ext cx="1070775" cy="24661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2B6D0A-4A1F-4B59-B429-AD3FABC74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B66529-F6B7-4C1C-8291-8139628DF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48456"/>
            <a:ext cx="6833382" cy="7170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2245B9-34B5-4F89-8EA6-C018B9D4FA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58023" y="3442673"/>
            <a:ext cx="5333977" cy="34153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0814BE-76E8-43EC-9616-A1F02F053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396996"/>
            <a:ext cx="1219200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8AAA0A6-9D4B-4AA2-82F0-77E5ECF4B6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86762" y="3928342"/>
            <a:ext cx="4162319" cy="22850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8E3FFD99-95F0-47A4-8642-FB9FECEC4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5917" y="6309360"/>
            <a:ext cx="4946592" cy="457200"/>
          </a:xfrm>
        </p:spPr>
        <p:txBody>
          <a:bodyPr/>
          <a:lstStyle>
            <a:lvl1pPr>
              <a:defRPr lang="en-US" sz="12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727536-E532-4015-A178-0ABB6B09C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22977876-C29D-4D32-9948-303465AEC3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77730" y="6309360"/>
            <a:ext cx="2736329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6A7BC11E-2EF0-4989-9A7E-7AB377DB8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557ABF-B75C-BD78-1A04-E483A57A9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7712" y="0"/>
            <a:ext cx="5728216" cy="8455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83854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29" y="825687"/>
            <a:ext cx="9643772" cy="5201730"/>
          </a:xfrm>
        </p:spPr>
        <p:txBody>
          <a:bodyPr tIns="182880" anchor="ctr" anchorCtr="0">
            <a:noAutofit/>
          </a:bodyPr>
          <a:lstStyle>
            <a:lvl1pPr algn="l">
              <a:lnSpc>
                <a:spcPct val="100000"/>
              </a:lnSpc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A64FF-37A7-4837-8033-CBEA22697E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C0C09F-8990-542B-199E-E6FADE2FEE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6F60C3-341E-9533-2415-66360A254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753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86F82F-1B47-46ED-8EAE-53EF71E59E9A}"/>
              </a:ext>
            </a:extLst>
          </p:cNvPr>
          <p:cNvSpPr/>
          <p:nvPr/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2918" y="705113"/>
            <a:ext cx="3411973" cy="5197498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71" y="705113"/>
            <a:ext cx="6172412" cy="5197497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2917" y="6309360"/>
            <a:ext cx="341197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76670" y="6309360"/>
            <a:ext cx="494659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9202" y="6309360"/>
            <a:ext cx="979879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1BAF6F-6275-4646-9C59-331B29B9550F}"/>
              </a:ext>
            </a:extLst>
          </p:cNvPr>
          <p:cNvSpPr/>
          <p:nvPr/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48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  <p:sldLayoutId id="2147483703" r:id="rId16"/>
    <p:sldLayoutId id="2147483704" r:id="rId17"/>
    <p:sldLayoutId id="2147483705" r:id="rId18"/>
    <p:sldLayoutId id="2147483706" r:id="rId19"/>
    <p:sldLayoutId id="2147483707" r:id="rId20"/>
    <p:sldLayoutId id="2147483708" r:id="rId21"/>
    <p:sldLayoutId id="2147483709" r:id="rId22"/>
    <p:sldLayoutId id="2147483682" r:id="rId23"/>
  </p:sldLayoutIdLst>
  <p:hf sldNum="0" hdr="0" ftr="0" dt="0"/>
  <p:txStyles>
    <p:titleStyle>
      <a:lvl1pPr algn="l" defTabSz="914400" rtl="0" eaLnBrk="1" latinLnBrk="0" hangingPunct="1">
        <a:lnSpc>
          <a:spcPct val="150000"/>
        </a:lnSpc>
        <a:spcBef>
          <a:spcPct val="0"/>
        </a:spcBef>
        <a:buNone/>
        <a:defRPr sz="36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48">
          <p15:clr>
            <a:srgbClr val="F26B43"/>
          </p15:clr>
        </p15:guide>
        <p15:guide id="2" orient="horz" pos="3960">
          <p15:clr>
            <a:srgbClr val="F26B43"/>
          </p15:clr>
        </p15:guide>
        <p15:guide id="3" orient="horz" pos="1536">
          <p15:clr>
            <a:srgbClr val="F26B43"/>
          </p15:clr>
        </p15:guide>
        <p15:guide id="4" orient="horz" pos="3840">
          <p15:clr>
            <a:srgbClr val="F26B43"/>
          </p15:clr>
        </p15:guide>
        <p15:guide id="5" pos="4416">
          <p15:clr>
            <a:srgbClr val="F26B43"/>
          </p15:clr>
        </p15:guide>
        <p15:guide id="6" pos="4800">
          <p15:clr>
            <a:srgbClr val="F26B43"/>
          </p15:clr>
        </p15:guide>
        <p15:guide id="7" orient="horz" pos="360">
          <p15:clr>
            <a:srgbClr val="F26B43"/>
          </p15:clr>
        </p15:guide>
        <p15:guide id="8" pos="7368">
          <p15:clr>
            <a:srgbClr val="F26B43"/>
          </p15:clr>
        </p15:guide>
        <p15:guide id="9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ctr">
            <a:normAutofit/>
          </a:bodyPr>
          <a:lstStyle/>
          <a:p>
            <a:r>
              <a:rPr lang="en-US" dirty="0"/>
              <a:t>Zillow Dataset:</a:t>
            </a:r>
            <a:br>
              <a:rPr lang="en-US" dirty="0"/>
            </a:br>
            <a:r>
              <a:rPr lang="en-US" dirty="0"/>
              <a:t>Assessed Tax Value Modeling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82D7B1-7D0F-514E-3E61-C9489FB77A7D}"/>
              </a:ext>
            </a:extLst>
          </p:cNvPr>
          <p:cNvSpPr txBox="1"/>
          <p:nvPr/>
        </p:nvSpPr>
        <p:spPr>
          <a:xfrm>
            <a:off x="1481328" y="4617720"/>
            <a:ext cx="57775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OMCDS MOD 3</a:t>
            </a:r>
          </a:p>
          <a:p>
            <a:r>
              <a:rPr lang="en-US" dirty="0"/>
              <a:t>Peter Shmorhun, Nowrin Mustary, and Matt Gurgiolo</a:t>
            </a:r>
          </a:p>
        </p:txBody>
      </p:sp>
    </p:spTree>
    <p:extLst>
      <p:ext uri="{BB962C8B-B14F-4D97-AF65-F5344CB8AC3E}">
        <p14:creationId xmlns:p14="http://schemas.microsoft.com/office/powerpoint/2010/main" val="2323907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DE6B89-9484-4E50-8387-C55E031D8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178" y="1361923"/>
            <a:ext cx="6623040" cy="741197"/>
          </a:xfrm>
        </p:spPr>
        <p:txBody>
          <a:bodyPr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EB58E2-A9A0-481A-8B5B-381B836CE40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7399" y="2103120"/>
            <a:ext cx="6622819" cy="366629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This project is aimed at producing accurate predictions for tax-assessed value of homes based on the Zillow Housing Dataset.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Includes features like square footage, location, bed/bathrooms, and more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Performed cleaning, preprocessing, and feature engineering on the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Decided on Gradient Boosting Regressor after testing a number of different models</a:t>
            </a:r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97F0A541-E300-EB3F-28C9-95BA747BD235}"/>
              </a:ext>
            </a:extLst>
          </p:cNvPr>
          <p:cNvSpPr txBox="1">
            <a:spLocks/>
          </p:cNvSpPr>
          <p:nvPr/>
        </p:nvSpPr>
        <p:spPr>
          <a:xfrm>
            <a:off x="8485632" y="1361924"/>
            <a:ext cx="3438674" cy="4407488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>
            <a:lvl1pPr marL="0" indent="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2000" b="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6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4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4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4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2024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24028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56032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88036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Result:</a:t>
            </a:r>
          </a:p>
          <a:p>
            <a:r>
              <a:rPr lang="en-US" dirty="0"/>
              <a:t>A reliable and interpretable model that can support homeowners, real estate investors, and tax authorities with property valuations.</a:t>
            </a:r>
          </a:p>
        </p:txBody>
      </p:sp>
    </p:spTree>
    <p:extLst>
      <p:ext uri="{BB962C8B-B14F-4D97-AF65-F5344CB8AC3E}">
        <p14:creationId xmlns:p14="http://schemas.microsoft.com/office/powerpoint/2010/main" val="3318299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F00FE34-3ED0-5F2C-A28A-7510FFD54241}"/>
              </a:ext>
            </a:extLst>
          </p:cNvPr>
          <p:cNvSpPr/>
          <p:nvPr/>
        </p:nvSpPr>
        <p:spPr>
          <a:xfrm>
            <a:off x="6574537" y="383722"/>
            <a:ext cx="4846320" cy="3955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In today’s data-driven real estate market, accurate property valuation models are essential for improving transparency and fairness in tax assessments. By developing a model that enhances Zillow’s existing valuation pipeline, we aim to benefit a broad range of stakeholders—including homeowners, investors, tax authorities, and real estate professionals—by improving the accuracy, interpretability, and fairness of automated property tax assessments.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1BF1AC-C624-2AD2-DA0F-335AB7BA2CA8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966631" y="502269"/>
            <a:ext cx="4454226" cy="371855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How do we accomplish this?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Robust data cleaning and reduction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Development of new features</a:t>
            </a:r>
          </a:p>
          <a:p>
            <a:r>
              <a:rPr lang="en-US" dirty="0"/>
              <a:t>How do we measure success?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RMSE, MAE, and R² on unseen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Generalization power and interpretability</a:t>
            </a:r>
          </a:p>
        </p:txBody>
      </p:sp>
      <p:pic>
        <p:nvPicPr>
          <p:cNvPr id="1026" name="Picture 2" descr="Zillow.com - A Washington State Business Legend">
            <a:extLst>
              <a:ext uri="{FF2B5EF4-FFF2-40B4-BE49-F238E27FC236}">
                <a16:creationId xmlns:a16="http://schemas.microsoft.com/office/drawing/2014/main" id="{169D5FFD-A230-2A7D-E3EF-A74CC7656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36" b="11988"/>
          <a:stretch/>
        </p:blipFill>
        <p:spPr bwMode="auto">
          <a:xfrm>
            <a:off x="7515446" y="4905756"/>
            <a:ext cx="3356595" cy="969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0700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B65A9-1ACB-EE49-7672-A927F8F34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255" y="272583"/>
            <a:ext cx="4323018" cy="865542"/>
          </a:xfrm>
        </p:spPr>
        <p:txBody>
          <a:bodyPr/>
          <a:lstStyle/>
          <a:p>
            <a:r>
              <a:rPr lang="en-US" dirty="0"/>
              <a:t>The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BAABBD-8A7F-A90C-3E5F-9B47E6255AA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38649" y="1138125"/>
            <a:ext cx="4323624" cy="5447292"/>
          </a:xfrm>
        </p:spPr>
        <p:txBody>
          <a:bodyPr>
            <a:normAutofit fontScale="77500" lnSpcReduction="20000"/>
          </a:bodyPr>
          <a:lstStyle/>
          <a:p>
            <a:r>
              <a:rPr lang="en-US" b="1" dirty="0"/>
              <a:t>The 2016 Zillow Property Dataset: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3 million property records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Various U.S. regions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home characteristics, geographic identifiers, and administrative data.</a:t>
            </a:r>
          </a:p>
          <a:p>
            <a:r>
              <a:rPr lang="en-US" b="1" dirty="0"/>
              <a:t>Key characteristics: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Size: ~3 million rows before filtering; reduced to ~250,000 after cleaning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Target Variable: </a:t>
            </a:r>
            <a:r>
              <a:rPr lang="en-US" dirty="0" err="1"/>
              <a:t>taxvaluedollarcnt</a:t>
            </a:r>
            <a:r>
              <a:rPr lang="en-US" dirty="0"/>
              <a:t> — the Zillow-assessed property tax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Feature Types: Numerical categorical and string-based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Missing Values: Some &gt;80%, so we applied strict thresholds to retain only well-populated features.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Redundancy: Location-based features were streamlined to avoid duplication.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06D49D-AA8E-2856-7690-633399B696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912" y="272583"/>
            <a:ext cx="6897624" cy="86554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5306F03-860A-F0FA-191F-D45C456C0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1408284"/>
            <a:ext cx="3392424" cy="5177133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991A42D-4D98-E4A7-20F5-A4D88B68EC04}"/>
              </a:ext>
            </a:extLst>
          </p:cNvPr>
          <p:cNvSpPr/>
          <p:nvPr/>
        </p:nvSpPr>
        <p:spPr>
          <a:xfrm>
            <a:off x="8732520" y="2030076"/>
            <a:ext cx="3176016" cy="40036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E6DCF376-95A2-F392-718D-A412EB143406}"/>
              </a:ext>
            </a:extLst>
          </p:cNvPr>
          <p:cNvSpPr txBox="1">
            <a:spLocks/>
          </p:cNvSpPr>
          <p:nvPr/>
        </p:nvSpPr>
        <p:spPr>
          <a:xfrm>
            <a:off x="8732520" y="2103120"/>
            <a:ext cx="3176016" cy="356616"/>
          </a:xfrm>
          <a:prstGeom prst="rect">
            <a:avLst/>
          </a:prstGeom>
        </p:spPr>
        <p:txBody>
          <a:bodyPr vert="horz" lIns="109728" tIns="109728" rIns="109728" bIns="91440" rtlCol="0" anchor="t">
            <a:normAutofit fontScale="62500" lnSpcReduction="2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800" b="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-320040" algn="l" defTabSz="914400" rtl="0" eaLnBrk="1" latinLnBrk="0" hangingPunct="1">
              <a:lnSpc>
                <a:spcPct val="100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-320040" algn="l" defTabSz="914400" rtl="0" eaLnBrk="1" latinLnBrk="0" hangingPunct="1">
              <a:lnSpc>
                <a:spcPct val="100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-320040" algn="l" defTabSz="914400" rtl="0" eaLnBrk="1" latinLnBrk="0" hangingPunct="1">
              <a:lnSpc>
                <a:spcPct val="100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2024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24028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56032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88036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After Cleaning and Engineering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B75C701-5234-13C5-92BF-83BCD526B8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2629" y="2459736"/>
            <a:ext cx="3075798" cy="3474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108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pic>
        <p:nvPicPr>
          <p:cNvPr id="41" name="Picture Placeholder 40" descr="A large room with glass walls&#10;">
            <a:extLst>
              <a:ext uri="{FF2B5EF4-FFF2-40B4-BE49-F238E27FC236}">
                <a16:creationId xmlns:a16="http://schemas.microsoft.com/office/drawing/2014/main" id="{9FB4A3D7-302B-4FAB-B9BD-5F75A796AC7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80" r="7980"/>
          <a:stretch/>
        </p:blipFill>
        <p:spPr/>
      </p:pic>
    </p:spTree>
    <p:extLst>
      <p:ext uri="{BB962C8B-B14F-4D97-AF65-F5344CB8AC3E}">
        <p14:creationId xmlns:p14="http://schemas.microsoft.com/office/powerpoint/2010/main" val="2916022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Analytical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asdfasdf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1BF1AC-C624-2AD2-DA0F-335AB7BA2CA8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asdfasdf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637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331CEB84-49DC-40A9-B2F0-D573658AE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Cleaning and Preprocessing</a:t>
            </a:r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B7886DF7-FA3D-4AD1-AEC1-578EA3AC8C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3 Steps</a:t>
            </a:r>
          </a:p>
        </p:txBody>
      </p:sp>
      <p:pic>
        <p:nvPicPr>
          <p:cNvPr id="5" name="Picture Placeholder 4" descr="People in the middle of a circular room ">
            <a:extLst>
              <a:ext uri="{FF2B5EF4-FFF2-40B4-BE49-F238E27FC236}">
                <a16:creationId xmlns:a16="http://schemas.microsoft.com/office/drawing/2014/main" id="{0CEB905B-7FDD-4B1A-96BF-B5A081A25FC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618" r="7618"/>
          <a:stretch/>
        </p:blipFill>
        <p:spPr/>
      </p:pic>
    </p:spTree>
    <p:extLst>
      <p:ext uri="{BB962C8B-B14F-4D97-AF65-F5344CB8AC3E}">
        <p14:creationId xmlns:p14="http://schemas.microsoft.com/office/powerpoint/2010/main" val="27797926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D2769-08DE-E62F-163A-27A5442A9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AD3192-D337-8C2E-FAAC-9B46B5DFBD21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ASDGFASD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62501-32BB-9A93-A8EB-6D8E25DFA66B}"/>
              </a:ext>
            </a:extLst>
          </p:cNvPr>
          <p:cNvSpPr txBox="1"/>
          <p:nvPr/>
        </p:nvSpPr>
        <p:spPr>
          <a:xfrm>
            <a:off x="707919" y="2558486"/>
            <a:ext cx="18928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Potentially flow chart of steps here</a:t>
            </a:r>
          </a:p>
        </p:txBody>
      </p:sp>
    </p:spTree>
    <p:extLst>
      <p:ext uri="{BB962C8B-B14F-4D97-AF65-F5344CB8AC3E}">
        <p14:creationId xmlns:p14="http://schemas.microsoft.com/office/powerpoint/2010/main" val="4065057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Asdfasdfasdf</a:t>
            </a:r>
            <a:endParaRPr lang="en-US" dirty="0"/>
          </a:p>
          <a:p>
            <a:endParaRPr lang="en-US" dirty="0"/>
          </a:p>
          <a:p>
            <a:r>
              <a:rPr lang="en-US" dirty="0"/>
              <a:t>Maybe stats on the models to the right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453CE196-36B9-5361-5120-20DF8B3B5581}"/>
              </a:ext>
            </a:extLst>
          </p:cNvPr>
          <p:cNvGraphicFramePr>
            <a:graphicFrameLocks noGrp="1"/>
          </p:cNvGraphicFramePr>
          <p:nvPr>
            <p:ph type="tbl" sz="quarter" idx="15"/>
            <p:extLst>
              <p:ext uri="{D42A27DB-BD31-4B8C-83A1-F6EECF244321}">
                <p14:modId xmlns:p14="http://schemas.microsoft.com/office/powerpoint/2010/main" val="3662960558"/>
              </p:ext>
            </p:extLst>
          </p:nvPr>
        </p:nvGraphicFramePr>
        <p:xfrm>
          <a:off x="5075238" y="461963"/>
          <a:ext cx="6473823" cy="3866324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2038538">
                  <a:extLst>
                    <a:ext uri="{9D8B030D-6E8A-4147-A177-3AD203B41FA5}">
                      <a16:colId xmlns:a16="http://schemas.microsoft.com/office/drawing/2014/main" val="1123561819"/>
                    </a:ext>
                  </a:extLst>
                </a:gridCol>
                <a:gridCol w="2097154">
                  <a:extLst>
                    <a:ext uri="{9D8B030D-6E8A-4147-A177-3AD203B41FA5}">
                      <a16:colId xmlns:a16="http://schemas.microsoft.com/office/drawing/2014/main" val="1296588374"/>
                    </a:ext>
                  </a:extLst>
                </a:gridCol>
                <a:gridCol w="1178835">
                  <a:extLst>
                    <a:ext uri="{9D8B030D-6E8A-4147-A177-3AD203B41FA5}">
                      <a16:colId xmlns:a16="http://schemas.microsoft.com/office/drawing/2014/main" val="1285016582"/>
                    </a:ext>
                  </a:extLst>
                </a:gridCol>
                <a:gridCol w="1159296">
                  <a:extLst>
                    <a:ext uri="{9D8B030D-6E8A-4147-A177-3AD203B41FA5}">
                      <a16:colId xmlns:a16="http://schemas.microsoft.com/office/drawing/2014/main" val="4218447726"/>
                    </a:ext>
                  </a:extLst>
                </a:gridCol>
              </a:tblGrid>
              <a:tr h="477078">
                <a:tc>
                  <a:txBody>
                    <a:bodyPr/>
                    <a:lstStyle/>
                    <a:p>
                      <a:r>
                        <a:rPr lang="en-US" dirty="0"/>
                        <a:t>NOT FOR USE IN FINAL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Measurement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Target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Actual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3342107652"/>
                  </a:ext>
                </a:extLst>
              </a:tr>
              <a:tr h="795131">
                <a:tc>
                  <a:txBody>
                    <a:bodyPr/>
                    <a:lstStyle/>
                    <a:p>
                      <a:r>
                        <a:rPr lang="en-US" dirty="0"/>
                        <a:t>Audience attendance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of attendees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57143556"/>
                  </a:ext>
                </a:extLst>
              </a:tr>
              <a:tr h="795131">
                <a:tc>
                  <a:txBody>
                    <a:bodyPr/>
                    <a:lstStyle/>
                    <a:p>
                      <a:r>
                        <a:rPr lang="en-US" dirty="0"/>
                        <a:t>Engagement duration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Minutes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328625713"/>
                  </a:ext>
                </a:extLst>
              </a:tr>
              <a:tr h="795131">
                <a:tc>
                  <a:txBody>
                    <a:bodyPr/>
                    <a:lstStyle/>
                    <a:p>
                      <a:r>
                        <a:rPr lang="en-US" dirty="0"/>
                        <a:t>Q&amp;A interaction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of questions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80048660"/>
                  </a:ext>
                </a:extLst>
              </a:tr>
              <a:tr h="795131">
                <a:tc>
                  <a:txBody>
                    <a:bodyPr/>
                    <a:lstStyle/>
                    <a:p>
                      <a:r>
                        <a:rPr lang="en-US" dirty="0"/>
                        <a:t>Positive feedback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95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3515855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4014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and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asdfasdfasdf</a:t>
            </a:r>
            <a:endParaRPr lang="en-US" dirty="0"/>
          </a:p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078F1DC-7EF8-5514-E97B-D47663F284D3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asdfasdf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47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FE67981-079D-4463-B997-67E6CA039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graphicFrame>
        <p:nvGraphicFramePr>
          <p:cNvPr id="19" name="Table 9">
            <a:extLst>
              <a:ext uri="{FF2B5EF4-FFF2-40B4-BE49-F238E27FC236}">
                <a16:creationId xmlns:a16="http://schemas.microsoft.com/office/drawing/2014/main" id="{AEFEE5B3-A51E-DC59-9595-7A6911D82E62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1372280552"/>
              </p:ext>
            </p:extLst>
          </p:nvPr>
        </p:nvGraphicFramePr>
        <p:xfrm>
          <a:off x="1630363" y="2757488"/>
          <a:ext cx="9918700" cy="338328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3793037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2890770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  <a:gridCol w="1524636">
                  <a:extLst>
                    <a:ext uri="{9D8B030D-6E8A-4147-A177-3AD203B41FA5}">
                      <a16:colId xmlns:a16="http://schemas.microsoft.com/office/drawing/2014/main" val="3308918160"/>
                    </a:ext>
                  </a:extLst>
                </a:gridCol>
                <a:gridCol w="1710257">
                  <a:extLst>
                    <a:ext uri="{9D8B030D-6E8A-4147-A177-3AD203B41FA5}">
                      <a16:colId xmlns:a16="http://schemas.microsoft.com/office/drawing/2014/main" val="1854486728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NOT FOR USE IN FINAL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Measurement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Target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Achieved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Audience interaction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85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801628125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Knowledge retention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52231563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Post-presentation surveys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rating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4.2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392331104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Referral rate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046739586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Collaboration opportunities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of opportunities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1662821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5023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4081DB-1923-4878-AB15-AD54F35A1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798203993"/>
      </p:ext>
    </p:extLst>
  </p:cSld>
  <p:clrMapOvr>
    <a:masterClrMapping/>
  </p:clrMapOvr>
</p:sld>
</file>

<file path=ppt/theme/theme1.xml><?xml version="1.0" encoding="utf-8"?>
<a:theme xmlns:a="http://schemas.openxmlformats.org/drawingml/2006/main" name="ShojiVTI">
  <a:themeElements>
    <a:clrScheme name="Shoji">
      <a:dk1>
        <a:sysClr val="windowText" lastClr="000000"/>
      </a:dk1>
      <a:lt1>
        <a:sysClr val="window" lastClr="FFFFFF"/>
      </a:lt1>
      <a:dk2>
        <a:srgbClr val="595460"/>
      </a:dk2>
      <a:lt2>
        <a:srgbClr val="EBEDEB"/>
      </a:lt2>
      <a:accent1>
        <a:srgbClr val="97A7B8"/>
      </a:accent1>
      <a:accent2>
        <a:srgbClr val="A5B592"/>
      </a:accent2>
      <a:accent3>
        <a:srgbClr val="CED228"/>
      </a:accent3>
      <a:accent4>
        <a:srgbClr val="D1C499"/>
      </a:accent4>
      <a:accent5>
        <a:srgbClr val="BDB3B6"/>
      </a:accent5>
      <a:accent6>
        <a:srgbClr val="C5A98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hojiVTI" id="{00D0DDEB-E771-48E5-9E96-0647434F08B1}" vid="{9D22D596-7FD0-4F89-958C-AD79A09491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FF477C-132F-44F8-8C56-EBFF95FAF97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F36CB81-A037-44A8-88EB-C0C0F17FD4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C1AA24C-4CA6-40FF-8947-DA1F6F4745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{14B4E36B-4460-4E9B-ACE4-76CE89677196}tf56000440_win32</Template>
  <TotalTime>110</TotalTime>
  <Words>427</Words>
  <Application>Microsoft Office PowerPoint</Application>
  <PresentationFormat>Widescreen</PresentationFormat>
  <Paragraphs>104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Meiryo</vt:lpstr>
      <vt:lpstr>Arial</vt:lpstr>
      <vt:lpstr>Calibri</vt:lpstr>
      <vt:lpstr>Corbel</vt:lpstr>
      <vt:lpstr>Wingdings</vt:lpstr>
      <vt:lpstr>ShojiVTI</vt:lpstr>
      <vt:lpstr>Zillow Dataset: Assessed Tax Value Modeling</vt:lpstr>
      <vt:lpstr>Executive Summary</vt:lpstr>
      <vt:lpstr>Introduction</vt:lpstr>
      <vt:lpstr>The Data</vt:lpstr>
      <vt:lpstr>Methodology</vt:lpstr>
      <vt:lpstr>Analytical Framework</vt:lpstr>
      <vt:lpstr>Cleaning and Preprocessing</vt:lpstr>
      <vt:lpstr>Feature Engineering</vt:lpstr>
      <vt:lpstr>Model Selection</vt:lpstr>
      <vt:lpstr>Results and Evaluation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Gurgiolo</dc:creator>
  <cp:lastModifiedBy>Matthew Gurgiolo</cp:lastModifiedBy>
  <cp:revision>2</cp:revision>
  <dcterms:created xsi:type="dcterms:W3CDTF">2025-04-24T17:18:24Z</dcterms:created>
  <dcterms:modified xsi:type="dcterms:W3CDTF">2025-04-26T06:10:22Z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