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9"/>
  </p:notesMasterIdLst>
  <p:handoutMasterIdLst>
    <p:handoutMasterId r:id="rId20"/>
  </p:handoutMasterIdLst>
  <p:sldIdLst>
    <p:sldId id="315" r:id="rId5"/>
    <p:sldId id="266" r:id="rId6"/>
    <p:sldId id="312" r:id="rId7"/>
    <p:sldId id="309" r:id="rId8"/>
    <p:sldId id="314" r:id="rId9"/>
    <p:sldId id="305" r:id="rId10"/>
    <p:sldId id="271" r:id="rId11"/>
    <p:sldId id="310" r:id="rId12"/>
    <p:sldId id="317" r:id="rId13"/>
    <p:sldId id="316" r:id="rId14"/>
    <p:sldId id="313" r:id="rId15"/>
    <p:sldId id="318" r:id="rId16"/>
    <p:sldId id="319" r:id="rId17"/>
    <p:sldId id="29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9200206-63A0-4E29-BBD4-435698AC31B1}">
          <p14:sldIdLst>
            <p14:sldId id="315"/>
            <p14:sldId id="266"/>
            <p14:sldId id="312"/>
            <p14:sldId id="309"/>
            <p14:sldId id="314"/>
            <p14:sldId id="305"/>
            <p14:sldId id="271"/>
            <p14:sldId id="310"/>
            <p14:sldId id="317"/>
            <p14:sldId id="316"/>
            <p14:sldId id="313"/>
            <p14:sldId id="318"/>
            <p14:sldId id="319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91" d="100"/>
          <a:sy n="91" d="100"/>
        </p:scale>
        <p:origin x="37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4/27/2025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4/27/2025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55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68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899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327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603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518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912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4/27/2025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3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430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</a:lstStyle>
          <a:p>
            <a:r>
              <a:rPr lang="en-US" sz="2000" dirty="0">
                <a:solidFill>
                  <a:schemeClr val="tx2"/>
                </a:solidFill>
              </a:rPr>
              <a:t>Click to add subtitle</a:t>
            </a:r>
          </a:p>
        </p:txBody>
      </p:sp>
      <p:sp>
        <p:nvSpPr>
          <p:cNvPr id="40" name="Picture Placeholder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42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00000"/>
              </a:lnSpc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Aft>
                <a:spcPts val="600"/>
              </a:spcAft>
              <a:defRPr sz="1800"/>
            </a:lvl4pPr>
            <a:lvl5pPr>
              <a:lnSpc>
                <a:spcPct val="100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18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306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16164776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16188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8518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511" y="1393926"/>
            <a:ext cx="7042570" cy="1626225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F27B53-079D-232F-8AA5-ED461B34E8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6741" y="3153103"/>
            <a:ext cx="7042335" cy="2648312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41913" y="6144405"/>
            <a:ext cx="8150087" cy="7135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6412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4F4FDF97-2780-775F-9416-96F7A906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2" y="6309360"/>
            <a:ext cx="4280135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A03787D1-4AB7-2166-D4DB-A3878CB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6511" y="6309360"/>
            <a:ext cx="1513289" cy="45720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4F8C5CD2-BF99-0846-2E4A-179E6C45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00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F875EEC-3E6C-5B97-FFE8-0D1ECAAAE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35372" y="462243"/>
            <a:ext cx="3098425" cy="3866324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1178" indent="0">
              <a:lnSpc>
                <a:spcPct val="125000"/>
              </a:lnSpc>
              <a:spcAft>
                <a:spcPts val="600"/>
              </a:spcAft>
              <a:buNone/>
              <a:defRPr sz="1800"/>
            </a:lvl2pPr>
            <a:lvl3pPr marL="566928" indent="0">
              <a:lnSpc>
                <a:spcPct val="125000"/>
              </a:lnSpc>
              <a:spcAft>
                <a:spcPts val="600"/>
              </a:spcAft>
              <a:buNone/>
              <a:defRPr sz="1800"/>
            </a:lvl3pPr>
            <a:lvl4pPr marL="850392" indent="0">
              <a:lnSpc>
                <a:spcPct val="125000"/>
              </a:lnSpc>
              <a:spcAft>
                <a:spcPts val="600"/>
              </a:spcAft>
              <a:buNone/>
              <a:defRPr sz="1800"/>
            </a:lvl4pPr>
            <a:lvl5pPr marL="1133856" indent="0">
              <a:lnSpc>
                <a:spcPct val="125000"/>
              </a:lnSpc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7">
            <a:extLst>
              <a:ext uri="{FF2B5EF4-FFF2-40B4-BE49-F238E27FC236}">
                <a16:creationId xmlns:a16="http://schemas.microsoft.com/office/drawing/2014/main" id="{0C5070DA-50C2-065D-00B0-3B12070D77E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075238" y="461735"/>
            <a:ext cx="6473842" cy="386715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F8DD265-980F-4708-EDDF-3130F434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31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Date Placeholder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2" name="Slide Number Placeholder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7369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 lang="en-US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38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9" r:id="rId21"/>
    <p:sldLayoutId id="2147483682" r:id="rId22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Zillow Dataset:</a:t>
            </a:r>
            <a:br>
              <a:rPr lang="en-US" dirty="0"/>
            </a:br>
            <a:r>
              <a:rPr lang="en-US" dirty="0"/>
              <a:t>Assessed Tax Value Modeling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82D7B1-7D0F-514E-3E61-C9489FB77A7D}"/>
              </a:ext>
            </a:extLst>
          </p:cNvPr>
          <p:cNvSpPr txBox="1"/>
          <p:nvPr/>
        </p:nvSpPr>
        <p:spPr>
          <a:xfrm>
            <a:off x="1481328" y="4617720"/>
            <a:ext cx="5777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OMCDS MOD 3</a:t>
            </a:r>
          </a:p>
          <a:p>
            <a:r>
              <a:rPr lang="en-US" dirty="0"/>
              <a:t>Peter Shmorhun, Nowrin Mustary, and Matt Gurgiolo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1361923"/>
            <a:ext cx="6623040" cy="741197"/>
          </a:xfrm>
        </p:spPr>
        <p:txBody>
          <a:bodyPr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7399" y="2103120"/>
            <a:ext cx="6622819" cy="36662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This project is aimed at producing accurate predictions for tax-assessed value of homes based on the Zillow Housing Dataset.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Includes features like square footage, location, bed/bathrooms, and more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Performed cleaning, preprocessing, and feature engineering on the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Decided on Gradient Boosting Regressor after testing a number of different models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97F0A541-E300-EB3F-28C9-95BA747BD235}"/>
              </a:ext>
            </a:extLst>
          </p:cNvPr>
          <p:cNvSpPr txBox="1">
            <a:spLocks/>
          </p:cNvSpPr>
          <p:nvPr/>
        </p:nvSpPr>
        <p:spPr>
          <a:xfrm>
            <a:off x="8485632" y="1361924"/>
            <a:ext cx="3438674" cy="4407488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20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Result:</a:t>
            </a:r>
          </a:p>
          <a:p>
            <a:r>
              <a:rPr lang="en-US" dirty="0"/>
              <a:t>A reliable and interpretable model that can support homeowners, real estate investors, and tax authorities with property valuations.</a:t>
            </a:r>
          </a:p>
        </p:txBody>
      </p:sp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00FE34-3ED0-5F2C-A28A-7510FFD54241}"/>
              </a:ext>
            </a:extLst>
          </p:cNvPr>
          <p:cNvSpPr/>
          <p:nvPr/>
        </p:nvSpPr>
        <p:spPr>
          <a:xfrm>
            <a:off x="6574537" y="383722"/>
            <a:ext cx="4846320" cy="3955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 today’s data-driven real estate market, accurate property valuation models are essential for improving transparency and fairness in tax assessments. By developing a model that enhances Zillow’s existing valuation pipeline, we aim to benefit a broad range of stakeholders—including homeowners, investors, tax authorities, and real estate professionals—by improving the accuracy, interpretability, and fairness of automated property tax assessments.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BF1AC-C624-2AD2-DA0F-335AB7BA2CA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966631" y="502269"/>
            <a:ext cx="4454226" cy="37185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How do we accomplish this?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Robust data cleaning and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 of new features</a:t>
            </a:r>
          </a:p>
          <a:p>
            <a:r>
              <a:rPr lang="en-US" dirty="0"/>
              <a:t>How do we measure success?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RMSE, MAE, and R² on unseen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Generalization power and interpretability</a:t>
            </a:r>
          </a:p>
        </p:txBody>
      </p:sp>
      <p:pic>
        <p:nvPicPr>
          <p:cNvPr id="1026" name="Picture 2" descr="Zillow.com - A Washington State Business Legend">
            <a:extLst>
              <a:ext uri="{FF2B5EF4-FFF2-40B4-BE49-F238E27FC236}">
                <a16:creationId xmlns:a16="http://schemas.microsoft.com/office/drawing/2014/main" id="{169D5FFD-A230-2A7D-E3EF-A74CC7656A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36" b="11988"/>
          <a:stretch/>
        </p:blipFill>
        <p:spPr bwMode="auto">
          <a:xfrm>
            <a:off x="7515446" y="4905756"/>
            <a:ext cx="3356595" cy="96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700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65A9-1ACB-EE49-7672-A927F8F3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55" y="272583"/>
            <a:ext cx="4323018" cy="865542"/>
          </a:xfrm>
        </p:spPr>
        <p:txBody>
          <a:bodyPr/>
          <a:lstStyle/>
          <a:p>
            <a:r>
              <a:rPr lang="en-US" dirty="0"/>
              <a:t>The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AABBD-8A7F-A90C-3E5F-9B47E6255AA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8649" y="1138125"/>
            <a:ext cx="4323624" cy="544729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The 2016 Zillow Property Dataset: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million property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Various U.S.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characteristics, geographic identifiers, and administrative data.</a:t>
            </a:r>
          </a:p>
          <a:p>
            <a:r>
              <a:rPr lang="en-US" b="1" dirty="0"/>
              <a:t>Key 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Size</a:t>
            </a:r>
            <a:r>
              <a:rPr lang="en-US"/>
              <a:t>: ~77,000 </a:t>
            </a:r>
            <a:r>
              <a:rPr lang="en-US" dirty="0"/>
              <a:t>rows before filtering; reduced </a:t>
            </a:r>
            <a:r>
              <a:rPr lang="en-US"/>
              <a:t>to ~63,000,000 </a:t>
            </a:r>
            <a:r>
              <a:rPr lang="en-US" dirty="0"/>
              <a:t>after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Variable: </a:t>
            </a:r>
            <a:r>
              <a:rPr lang="en-US" dirty="0" err="1"/>
              <a:t>taxvaluedollarcnt</a:t>
            </a:r>
            <a:r>
              <a:rPr lang="en-US" dirty="0"/>
              <a:t> — the Zillow-assessed property tax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Types: Numerical categorical and string-based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Missing Values: Some &gt;80%, so we applied strict thresholds to retain only well-populated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Redundancy: Location-based features were streamlined to avoid duplication.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06D49D-AA8E-2856-7690-633399B69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272583"/>
            <a:ext cx="6897624" cy="8655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306F03-860A-F0FA-191F-D45C456C0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408284"/>
            <a:ext cx="3392424" cy="517713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991A42D-4D98-E4A7-20F5-A4D88B68EC04}"/>
              </a:ext>
            </a:extLst>
          </p:cNvPr>
          <p:cNvSpPr/>
          <p:nvPr/>
        </p:nvSpPr>
        <p:spPr>
          <a:xfrm>
            <a:off x="8732520" y="2030076"/>
            <a:ext cx="3176016" cy="40036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E6DCF376-95A2-F392-718D-A412EB143406}"/>
              </a:ext>
            </a:extLst>
          </p:cNvPr>
          <p:cNvSpPr txBox="1">
            <a:spLocks/>
          </p:cNvSpPr>
          <p:nvPr/>
        </p:nvSpPr>
        <p:spPr>
          <a:xfrm>
            <a:off x="8732520" y="2103120"/>
            <a:ext cx="3176016" cy="356616"/>
          </a:xfrm>
          <a:prstGeom prst="rect">
            <a:avLst/>
          </a:prstGeom>
        </p:spPr>
        <p:txBody>
          <a:bodyPr vert="horz" lIns="109728" tIns="109728" rIns="109728" bIns="91440" rtlCol="0" anchor="t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00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After Cleaning and Engineering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B75C701-5234-13C5-92BF-83BCD526B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629" y="2459736"/>
            <a:ext cx="3075798" cy="34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0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pic>
        <p:nvPicPr>
          <p:cNvPr id="41" name="Picture Placeholder 40" descr="A large room with glass walls&#10;">
            <a:extLst>
              <a:ext uri="{FF2B5EF4-FFF2-40B4-BE49-F238E27FC236}">
                <a16:creationId xmlns:a16="http://schemas.microsoft.com/office/drawing/2014/main" id="{9FB4A3D7-302B-4FAB-B9BD-5F75A796AC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80" r="7980"/>
          <a:stretch/>
        </p:blipFill>
        <p:spPr/>
      </p:pic>
    </p:spTree>
    <p:extLst>
      <p:ext uri="{BB962C8B-B14F-4D97-AF65-F5344CB8AC3E}">
        <p14:creationId xmlns:p14="http://schemas.microsoft.com/office/powerpoint/2010/main" val="2916022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RMSE (Root Mean Squared Error) was chosen for its sensitivity to large errors, aligning with the business goal of accurate high-value home assessments.</a:t>
            </a:r>
          </a:p>
          <a:p>
            <a:r>
              <a:rPr lang="en-US" dirty="0"/>
              <a:t>We used cross-validation to assess generalization, particularly </a:t>
            </a:r>
            <a:r>
              <a:rPr lang="en-US" dirty="0" err="1"/>
              <a:t>KFold</a:t>
            </a:r>
            <a:r>
              <a:rPr lang="en-US" dirty="0"/>
              <a:t> and </a:t>
            </a:r>
            <a:r>
              <a:rPr lang="en-US" dirty="0" err="1"/>
              <a:t>RepeatedKFold</a:t>
            </a:r>
            <a:r>
              <a:rPr lang="en-US" dirty="0"/>
              <a:t>, to ensure stability across multiple data splits.</a:t>
            </a:r>
          </a:p>
          <a:p>
            <a:r>
              <a:rPr lang="en-US" dirty="0"/>
              <a:t>We explored linear models, tree-based models, and ensemble techniques to cover a range of complexities and interpretabilities.</a:t>
            </a:r>
          </a:p>
          <a:p>
            <a:r>
              <a:rPr lang="en-US" dirty="0"/>
              <a:t>Initially, </a:t>
            </a:r>
            <a:r>
              <a:rPr lang="en-US" dirty="0" err="1"/>
              <a:t>RandomizedSearchCV</a:t>
            </a:r>
            <a:r>
              <a:rPr lang="en-US" dirty="0"/>
              <a:t> was used for efficient exploration. </a:t>
            </a:r>
            <a:r>
              <a:rPr lang="en-US" dirty="0" err="1"/>
              <a:t>GridSearchCV</a:t>
            </a:r>
            <a:r>
              <a:rPr lang="en-US" dirty="0"/>
              <a:t> was later removed due to marginal performance gains and high computational cost.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BF1AC-C624-2AD2-DA0F-335AB7BA2CA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43082" y="2727960"/>
            <a:ext cx="3653262" cy="618743"/>
          </a:xfrm>
        </p:spPr>
        <p:txBody>
          <a:bodyPr>
            <a:normAutofit/>
          </a:bodyPr>
          <a:lstStyle/>
          <a:p>
            <a:pPr>
              <a:buFont typeface="Meiryo" panose="020B0604030504040204" pitchFamily="34" charset="-128"/>
              <a:buChar char="←"/>
            </a:pPr>
            <a:r>
              <a:rPr lang="en-US" dirty="0"/>
              <a:t>Error Metric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9EDE988-8293-E1AE-1AB1-D5703331EE67}"/>
              </a:ext>
            </a:extLst>
          </p:cNvPr>
          <p:cNvSpPr txBox="1">
            <a:spLocks/>
          </p:cNvSpPr>
          <p:nvPr/>
        </p:nvSpPr>
        <p:spPr>
          <a:xfrm>
            <a:off x="8243082" y="5303521"/>
            <a:ext cx="3653262" cy="661416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lvl1pPr marL="285750" indent="-28575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eiryo" panose="020B0604030504040204" pitchFamily="34" charset="-128"/>
              <a:buChar char="←"/>
            </a:pPr>
            <a:r>
              <a:rPr lang="en-US" dirty="0"/>
              <a:t>Hyperparameter Tuning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50D2A7C-875A-BACE-9322-9168EA105383}"/>
              </a:ext>
            </a:extLst>
          </p:cNvPr>
          <p:cNvSpPr txBox="1">
            <a:spLocks/>
          </p:cNvSpPr>
          <p:nvPr/>
        </p:nvSpPr>
        <p:spPr>
          <a:xfrm>
            <a:off x="8243082" y="3621768"/>
            <a:ext cx="3653262" cy="618743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lvl1pPr marL="285750" indent="-28575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eiryo" panose="020B0604030504040204" pitchFamily="34" charset="-128"/>
              <a:buChar char="←"/>
            </a:pPr>
            <a:r>
              <a:rPr lang="en-US" dirty="0"/>
              <a:t>Validation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AC01ED3-A816-D0F5-C495-6981C46A8F5B}"/>
              </a:ext>
            </a:extLst>
          </p:cNvPr>
          <p:cNvSpPr txBox="1">
            <a:spLocks/>
          </p:cNvSpPr>
          <p:nvPr/>
        </p:nvSpPr>
        <p:spPr>
          <a:xfrm>
            <a:off x="8243082" y="4515577"/>
            <a:ext cx="3653262" cy="618744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lvl1pPr marL="285750" indent="-28575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eiryo" panose="020B0604030504040204" pitchFamily="34" charset="-128"/>
              <a:buChar char="←"/>
            </a:pPr>
            <a:r>
              <a:rPr lang="en-US" dirty="0"/>
              <a:t>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2225637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and Preprocessing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B7886DF7-FA3D-4AD1-AEC1-578EA3AC8C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5 Steps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06946E-EE62-D8E0-3C3B-F9679B567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435546"/>
              </p:ext>
            </p:extLst>
          </p:nvPr>
        </p:nvGraphicFramePr>
        <p:xfrm>
          <a:off x="175768" y="1316735"/>
          <a:ext cx="5920232" cy="456856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787722">
                  <a:extLst>
                    <a:ext uri="{9D8B030D-6E8A-4147-A177-3AD203B41FA5}">
                      <a16:colId xmlns:a16="http://schemas.microsoft.com/office/drawing/2014/main" val="4205044115"/>
                    </a:ext>
                  </a:extLst>
                </a:gridCol>
                <a:gridCol w="4132510">
                  <a:extLst>
                    <a:ext uri="{9D8B030D-6E8A-4147-A177-3AD203B41FA5}">
                      <a16:colId xmlns:a16="http://schemas.microsoft.com/office/drawing/2014/main" val="11685251"/>
                    </a:ext>
                  </a:extLst>
                </a:gridCol>
              </a:tblGrid>
              <a:tr h="385426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524220"/>
                  </a:ext>
                </a:extLst>
              </a:tr>
              <a:tr h="963562">
                <a:tc>
                  <a:txBody>
                    <a:bodyPr/>
                    <a:lstStyle/>
                    <a:p>
                      <a:r>
                        <a:rPr lang="en-US" dirty="0"/>
                        <a:t>1: Initial Cleanup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Dropping columns with no predictive power or high redundancy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125428"/>
                  </a:ext>
                </a:extLst>
              </a:tr>
              <a:tr h="752004">
                <a:tc>
                  <a:txBody>
                    <a:bodyPr/>
                    <a:lstStyle/>
                    <a:p>
                      <a:r>
                        <a:rPr lang="en-US" dirty="0"/>
                        <a:t>2: Handling Missing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Dropped columns with 80% null and rows with 25%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859164"/>
                  </a:ext>
                </a:extLst>
              </a:tr>
              <a:tr h="752004">
                <a:tc>
                  <a:txBody>
                    <a:bodyPr/>
                    <a:lstStyle/>
                    <a:p>
                      <a:r>
                        <a:rPr lang="en-US" dirty="0"/>
                        <a:t>3: Remove 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Reduced the dataset by 20% by trimming according to the IQR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632123"/>
                  </a:ext>
                </a:extLst>
              </a:tr>
              <a:tr h="963562">
                <a:tc>
                  <a:txBody>
                    <a:bodyPr/>
                    <a:lstStyle/>
                    <a:p>
                      <a:r>
                        <a:rPr lang="en-US" dirty="0"/>
                        <a:t>4: Imputation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Median fill for numeric columns and most common value for 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917344"/>
                  </a:ext>
                </a:extLst>
              </a:tr>
              <a:tr h="752004">
                <a:tc>
                  <a:txBody>
                    <a:bodyPr/>
                    <a:lstStyle/>
                    <a:p>
                      <a:r>
                        <a:rPr lang="en-US" dirty="0"/>
                        <a:t>5: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One-Hot Encoding, Rounding count columns, and X/y split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624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2769-08DE-E62F-163A-27A5442A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511" y="1393927"/>
            <a:ext cx="7042570" cy="754914"/>
          </a:xfrm>
        </p:spPr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3192-D337-8C2E-FAAC-9B46B5DFBD2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06741" y="2558485"/>
            <a:ext cx="7042335" cy="3242929"/>
          </a:xfrm>
        </p:spPr>
        <p:txBody>
          <a:bodyPr>
            <a:normAutofit fontScale="92500"/>
          </a:bodyPr>
          <a:lstStyle/>
          <a:p>
            <a:r>
              <a:rPr lang="en-US" dirty="0"/>
              <a:t>Bed-to-Bath Ratio: </a:t>
            </a:r>
            <a:r>
              <a:rPr lang="en-US" dirty="0" err="1"/>
              <a:t>bedroomcnt</a:t>
            </a:r>
            <a:r>
              <a:rPr lang="en-US" dirty="0"/>
              <a:t> / (</a:t>
            </a:r>
            <a:r>
              <a:rPr lang="en-US" dirty="0" err="1"/>
              <a:t>bathroomcnt</a:t>
            </a:r>
            <a:r>
              <a:rPr lang="en-US" dirty="0"/>
              <a:t> + 1) </a:t>
            </a:r>
          </a:p>
          <a:p>
            <a:r>
              <a:rPr lang="en-US" dirty="0"/>
              <a:t>Bed-to-Bath Product: </a:t>
            </a:r>
            <a:r>
              <a:rPr lang="en-US" dirty="0" err="1"/>
              <a:t>bathroomcnt</a:t>
            </a:r>
            <a:r>
              <a:rPr lang="en-US" dirty="0"/>
              <a:t> * </a:t>
            </a:r>
            <a:r>
              <a:rPr lang="en-US" dirty="0" err="1"/>
              <a:t>bedroomcnt</a:t>
            </a:r>
            <a:endParaRPr lang="en-US" dirty="0"/>
          </a:p>
          <a:p>
            <a:r>
              <a:rPr lang="en-US" dirty="0"/>
              <a:t>Age Feature: Formula: 2025 - </a:t>
            </a:r>
            <a:r>
              <a:rPr lang="en-US" dirty="0" err="1"/>
              <a:t>yearbuilt</a:t>
            </a:r>
            <a:endParaRPr lang="en-US" dirty="0"/>
          </a:p>
          <a:p>
            <a:r>
              <a:rPr lang="en-US" dirty="0"/>
              <a:t>Polynomial Features: Squares of various features to increase their variance on the higher end</a:t>
            </a:r>
          </a:p>
          <a:p>
            <a:r>
              <a:rPr lang="en-US" dirty="0"/>
              <a:t>Log Transformations: Logarithms to eliminate right-skewed features’ effects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3775C-EBC0-256D-E0D9-6E525D933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7" y="1771384"/>
            <a:ext cx="3826118" cy="3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57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365B0-6F01-248F-71CB-A1F1F4D0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E59AD-2BBD-311A-72A0-90E31C3011C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Plot validation curves to monitor overfitting or underfitting under various hyperparameter configurations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Track performance across multiple metrics (RMSE, R², training time).</a:t>
            </a:r>
          </a:p>
        </p:txBody>
      </p:sp>
    </p:spTree>
    <p:extLst>
      <p:ext uri="{BB962C8B-B14F-4D97-AF65-F5344CB8AC3E}">
        <p14:creationId xmlns:p14="http://schemas.microsoft.com/office/powerpoint/2010/main" val="4217192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Model Selection: </a:t>
            </a:r>
            <a:r>
              <a:rPr lang="en-US" sz="2800" dirty="0" err="1"/>
              <a:t>GradientBoostingRegressor</a:t>
            </a:r>
            <a:endParaRPr lang="en-US" sz="2800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53CE196-36B9-5361-5120-20DF8B3B5581}"/>
              </a:ext>
            </a:extLst>
          </p:cNvPr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3419757732"/>
              </p:ext>
            </p:extLst>
          </p:nvPr>
        </p:nvGraphicFramePr>
        <p:xfrm>
          <a:off x="1535372" y="384049"/>
          <a:ext cx="10013709" cy="3968159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841043">
                  <a:extLst>
                    <a:ext uri="{9D8B030D-6E8A-4147-A177-3AD203B41FA5}">
                      <a16:colId xmlns:a16="http://schemas.microsoft.com/office/drawing/2014/main" val="1123561819"/>
                    </a:ext>
                  </a:extLst>
                </a:gridCol>
                <a:gridCol w="3951488">
                  <a:extLst>
                    <a:ext uri="{9D8B030D-6E8A-4147-A177-3AD203B41FA5}">
                      <a16:colId xmlns:a16="http://schemas.microsoft.com/office/drawing/2014/main" val="1296588374"/>
                    </a:ext>
                  </a:extLst>
                </a:gridCol>
                <a:gridCol w="2221178">
                  <a:extLst>
                    <a:ext uri="{9D8B030D-6E8A-4147-A177-3AD203B41FA5}">
                      <a16:colId xmlns:a16="http://schemas.microsoft.com/office/drawing/2014/main" val="1285016582"/>
                    </a:ext>
                  </a:extLst>
                </a:gridCol>
              </a:tblGrid>
              <a:tr h="477055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Model(s)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342107652"/>
                  </a:ext>
                </a:extLst>
              </a:tr>
              <a:tr h="11048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Linear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Linear Regression, Ridge, Lasso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Ridge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57143556"/>
                  </a:ext>
                </a:extLst>
              </a:tr>
              <a:tr h="11931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Tree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DecisionTreeRegressor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RandomForestRegressor</a:t>
                      </a:r>
                      <a:endParaRPr lang="en-US" dirty="0"/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RF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328625713"/>
                  </a:ext>
                </a:extLst>
              </a:tr>
              <a:tr h="11931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Ensemble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GradientBoostingRegressor</a:t>
                      </a:r>
                      <a:endParaRPr lang="en-US" dirty="0"/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GBR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80048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01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0607" y="1646102"/>
            <a:ext cx="6968018" cy="416052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We selected the </a:t>
            </a:r>
            <a:r>
              <a:rPr lang="en-US" dirty="0" err="1"/>
              <a:t>GradientBoostingRegressor</a:t>
            </a:r>
            <a:r>
              <a:rPr lang="en-US" dirty="0"/>
              <a:t> (GBR) as our final model based on its strong overall performance, generalization capability, and ability to model non-linear relationships.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RMSE: 189,200.81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RMSE: 193,634.37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Cross-Validated RMSE: 193,744.46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CV RMSE Std Dev: 502,332.56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R² Score ~0.43–0.48 (est.)</a:t>
            </a:r>
          </a:p>
          <a:p>
            <a:r>
              <a:rPr lang="en-US" dirty="0"/>
              <a:t>Although Ridge Regression remained a strong contender (offering faster training and reasonably good test performance), it consistently underperformed the GBR in final runs by a measurable margin.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7B67FE-2DE3-5039-AC29-826CA65CC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889" y="2016244"/>
            <a:ext cx="4939319" cy="379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4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A758C-BDB8-B3F9-0A0B-A656BFA95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6DA6DE-2207-BA00-C29C-337CA944C407}"/>
              </a:ext>
            </a:extLst>
          </p:cNvPr>
          <p:cNvSpPr txBox="1"/>
          <p:nvPr/>
        </p:nvSpPr>
        <p:spPr>
          <a:xfrm>
            <a:off x="7050011" y="3666357"/>
            <a:ext cx="5020056" cy="319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5000"/>
              </a:lnSpc>
              <a:spcBef>
                <a:spcPts val="93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Outliers: </a:t>
            </a:r>
            <a:r>
              <a:rPr 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Many high-value homes were harder to predict — likely due to missing luxury indicators not captured in the dataset.</a:t>
            </a:r>
          </a:p>
          <a:p>
            <a:pPr marL="285750" indent="-285750">
              <a:lnSpc>
                <a:spcPct val="105000"/>
              </a:lnSpc>
              <a:spcBef>
                <a:spcPts val="93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Sensitivity: </a:t>
            </a:r>
            <a:r>
              <a:rPr 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GBR leveraged engineered features like Bed-to-Bath ratio and Age more effectively than simpler models.</a:t>
            </a:r>
          </a:p>
          <a:p>
            <a:pPr marL="285750" indent="-285750">
              <a:lnSpc>
                <a:spcPct val="105000"/>
              </a:lnSpc>
              <a:spcBef>
                <a:spcPts val="93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Overfitting Risk: </a:t>
            </a:r>
            <a:r>
              <a:rPr 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Controlled by early stopping and regularization in GBR, with validation curves confirming minimal overfit.</a:t>
            </a:r>
          </a:p>
        </p:txBody>
      </p:sp>
    </p:spTree>
    <p:extLst>
      <p:ext uri="{BB962C8B-B14F-4D97-AF65-F5344CB8AC3E}">
        <p14:creationId xmlns:p14="http://schemas.microsoft.com/office/powerpoint/2010/main" val="2503730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8BCF1-513F-39C3-7858-2612B4C94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BB9AB-9319-1CC8-BFF6-756D1EA917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9911" y="1560758"/>
            <a:ext cx="3819652" cy="416052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importance of rigorous cleaning and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Ensemble models advantages with nonlinear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model can support fair and quick tax assessments for a range of stakeholders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BF28F6-A9D6-61E1-EA45-C92DF62734B2}"/>
              </a:ext>
            </a:extLst>
          </p:cNvPr>
          <p:cNvSpPr txBox="1">
            <a:spLocks/>
          </p:cNvSpPr>
          <p:nvPr/>
        </p:nvSpPr>
        <p:spPr>
          <a:xfrm>
            <a:off x="4149563" y="1560758"/>
            <a:ext cx="3819652" cy="4160520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lack of certain key features (e.g., renovation, neighborhood amenities)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value homes remain difficult to value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3C7AA8-5281-1091-3618-E7292DA4A163}"/>
              </a:ext>
            </a:extLst>
          </p:cNvPr>
          <p:cNvSpPr txBox="1">
            <a:spLocks/>
          </p:cNvSpPr>
          <p:nvPr/>
        </p:nvSpPr>
        <p:spPr>
          <a:xfrm>
            <a:off x="8042437" y="1560758"/>
            <a:ext cx="3819652" cy="4160520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Future: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Incorporate more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Experiment with </a:t>
            </a:r>
            <a:r>
              <a:rPr lang="en-US" dirty="0" err="1"/>
              <a:t>XGBoost</a:t>
            </a:r>
            <a:r>
              <a:rPr lang="en-US" dirty="0"/>
              <a:t> for faster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lightweight version for web integration</a:t>
            </a:r>
          </a:p>
        </p:txBody>
      </p:sp>
    </p:spTree>
    <p:extLst>
      <p:ext uri="{BB962C8B-B14F-4D97-AF65-F5344CB8AC3E}">
        <p14:creationId xmlns:p14="http://schemas.microsoft.com/office/powerpoint/2010/main" val="3570999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081DB-1923-4878-AB15-AD54F35A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820399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{14B4E36B-4460-4E9B-ACE4-76CE89677196}tf56000440_win32</Template>
  <TotalTime>182</TotalTime>
  <Words>823</Words>
  <Application>Microsoft Office PowerPoint</Application>
  <PresentationFormat>Widescreen</PresentationFormat>
  <Paragraphs>112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Meiryo</vt:lpstr>
      <vt:lpstr>Arial</vt:lpstr>
      <vt:lpstr>Calibri</vt:lpstr>
      <vt:lpstr>Corbel</vt:lpstr>
      <vt:lpstr>Wingdings</vt:lpstr>
      <vt:lpstr>ShojiVTI</vt:lpstr>
      <vt:lpstr>Zillow Dataset: Assessed Tax Value Modeling</vt:lpstr>
      <vt:lpstr>Executive Summary</vt:lpstr>
      <vt:lpstr>Introduction</vt:lpstr>
      <vt:lpstr>The Data</vt:lpstr>
      <vt:lpstr>Methodology</vt:lpstr>
      <vt:lpstr>Analytical Framework</vt:lpstr>
      <vt:lpstr>Cleaning and Preprocessing</vt:lpstr>
      <vt:lpstr>Feature Engineering</vt:lpstr>
      <vt:lpstr>Model Evaluation Approach</vt:lpstr>
      <vt:lpstr>Model Selection: GradientBoostingRegressor</vt:lpstr>
      <vt:lpstr>Results and Evaluation</vt:lpstr>
      <vt:lpstr>Error Analysis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Gurgiolo</dc:creator>
  <cp:lastModifiedBy>Matthew Gurgiolo</cp:lastModifiedBy>
  <cp:revision>6</cp:revision>
  <dcterms:created xsi:type="dcterms:W3CDTF">2025-04-24T17:18:24Z</dcterms:created>
  <dcterms:modified xsi:type="dcterms:W3CDTF">2025-04-27T14:19:53Z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